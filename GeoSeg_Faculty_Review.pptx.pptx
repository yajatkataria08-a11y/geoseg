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ambria Bold" charset="1" panose="02040803050406030204"/>
      <p:regular r:id="rId26"/>
    </p:embeddedFont>
    <p:embeddedFont>
      <p:font typeface="Calibri (MS) Bold" charset="1" panose="020F0702030404030204"/>
      <p:regular r:id="rId27"/>
    </p:embeddedFont>
    <p:embeddedFont>
      <p:font typeface="Calibri (MS)" charset="1" panose="020F0502020204030204"/>
      <p:regular r:id="rId28"/>
    </p:embeddedFont>
    <p:embeddedFont>
      <p:font typeface="Calibri (MS) Italics" charset="1" panose="020F05020202040A0204"/>
      <p:regular r:id="rId30"/>
    </p:embeddedFont>
    <p:embeddedFont>
      <p:font typeface="Courier New" charset="1" panose="020703090202050204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0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7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15.png" Type="http://schemas.openxmlformats.org/officeDocument/2006/relationships/image"/><Relationship Id="rId7" Target="../media/image10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26.png" Type="http://schemas.openxmlformats.org/officeDocument/2006/relationships/image"/><Relationship Id="rId5" Target="../media/image20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1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26.png" Type="http://schemas.openxmlformats.org/officeDocument/2006/relationships/image"/><Relationship Id="rId5" Target="../media/image2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10560" y="822960"/>
            <a:ext cx="68580" cy="68580"/>
            <a:chOff x="0" y="0"/>
            <a:chExt cx="91440" cy="91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" cy="91440"/>
            </a:xfrm>
            <a:custGeom>
              <a:avLst/>
              <a:gdLst/>
              <a:ahLst/>
              <a:cxnLst/>
              <a:rect r="r" b="b" t="t" l="l"/>
              <a:pathLst>
                <a:path h="91440" w="91440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cubicBezTo>
                    <a:pt x="70993" y="0"/>
                    <a:pt x="91440" y="20447"/>
                    <a:pt x="91440" y="45720"/>
                  </a:cubicBezTo>
                  <a:cubicBezTo>
                    <a:pt x="91440" y="70993"/>
                    <a:pt x="70993" y="91440"/>
                    <a:pt x="45720" y="91440"/>
                  </a:cubicBezTo>
                  <a:cubicBezTo>
                    <a:pt x="20447" y="91440"/>
                    <a:pt x="0" y="70993"/>
                    <a:pt x="0" y="45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10560" y="822960"/>
            <a:ext cx="68580" cy="68580"/>
            <a:chOff x="0" y="0"/>
            <a:chExt cx="91440" cy="914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" cy="91440"/>
            </a:xfrm>
            <a:custGeom>
              <a:avLst/>
              <a:gdLst/>
              <a:ahLst/>
              <a:cxnLst/>
              <a:rect r="r" b="b" t="t" l="l"/>
              <a:pathLst>
                <a:path h="91440" w="91440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cubicBezTo>
                    <a:pt x="70993" y="0"/>
                    <a:pt x="91440" y="20447"/>
                    <a:pt x="91440" y="45720"/>
                  </a:cubicBezTo>
                  <a:cubicBezTo>
                    <a:pt x="91440" y="70993"/>
                    <a:pt x="70993" y="91440"/>
                    <a:pt x="45720" y="91440"/>
                  </a:cubicBezTo>
                  <a:cubicBezTo>
                    <a:pt x="20447" y="91440"/>
                    <a:pt x="0" y="70993"/>
                    <a:pt x="0" y="45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910560" y="822960"/>
            <a:ext cx="68580" cy="68580"/>
            <a:chOff x="0" y="0"/>
            <a:chExt cx="91440" cy="91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" cy="91440"/>
            </a:xfrm>
            <a:custGeom>
              <a:avLst/>
              <a:gdLst/>
              <a:ahLst/>
              <a:cxnLst/>
              <a:rect r="r" b="b" t="t" l="l"/>
              <a:pathLst>
                <a:path h="91440" w="91440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cubicBezTo>
                    <a:pt x="70993" y="0"/>
                    <a:pt x="91440" y="20447"/>
                    <a:pt x="91440" y="45720"/>
                  </a:cubicBezTo>
                  <a:cubicBezTo>
                    <a:pt x="91440" y="70993"/>
                    <a:pt x="70993" y="91440"/>
                    <a:pt x="45720" y="91440"/>
                  </a:cubicBezTo>
                  <a:cubicBezTo>
                    <a:pt x="20447" y="91440"/>
                    <a:pt x="0" y="70993"/>
                    <a:pt x="0" y="45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910560" y="822960"/>
            <a:ext cx="68580" cy="68580"/>
            <a:chOff x="0" y="0"/>
            <a:chExt cx="91440" cy="91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" cy="91440"/>
            </a:xfrm>
            <a:custGeom>
              <a:avLst/>
              <a:gdLst/>
              <a:ahLst/>
              <a:cxnLst/>
              <a:rect r="r" b="b" t="t" l="l"/>
              <a:pathLst>
                <a:path h="91440" w="91440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cubicBezTo>
                    <a:pt x="70993" y="0"/>
                    <a:pt x="91440" y="20447"/>
                    <a:pt x="91440" y="45720"/>
                  </a:cubicBezTo>
                  <a:cubicBezTo>
                    <a:pt x="91440" y="70993"/>
                    <a:pt x="70993" y="91440"/>
                    <a:pt x="45720" y="91440"/>
                  </a:cubicBezTo>
                  <a:cubicBezTo>
                    <a:pt x="20447" y="91440"/>
                    <a:pt x="0" y="70993"/>
                    <a:pt x="0" y="45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910560" y="822960"/>
            <a:ext cx="68580" cy="68580"/>
            <a:chOff x="0" y="0"/>
            <a:chExt cx="91440" cy="91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" cy="91440"/>
            </a:xfrm>
            <a:custGeom>
              <a:avLst/>
              <a:gdLst/>
              <a:ahLst/>
              <a:cxnLst/>
              <a:rect r="r" b="b" t="t" l="l"/>
              <a:pathLst>
                <a:path h="91440" w="91440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cubicBezTo>
                    <a:pt x="70993" y="0"/>
                    <a:pt x="91440" y="20447"/>
                    <a:pt x="91440" y="45720"/>
                  </a:cubicBezTo>
                  <a:cubicBezTo>
                    <a:pt x="91440" y="70993"/>
                    <a:pt x="70993" y="91440"/>
                    <a:pt x="45720" y="91440"/>
                  </a:cubicBezTo>
                  <a:cubicBezTo>
                    <a:pt x="20447" y="91440"/>
                    <a:pt x="0" y="70993"/>
                    <a:pt x="0" y="457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1888623"/>
            <a:ext cx="32877742" cy="3117717"/>
            <a:chOff x="0" y="0"/>
            <a:chExt cx="21214080" cy="2011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140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478" r="0" b="-15547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214080" cy="2030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b="true" sz="8100" spc="29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GEOSEG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4462922"/>
            <a:ext cx="19213425" cy="1048005"/>
            <a:chOff x="0" y="0"/>
            <a:chExt cx="2011680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16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01168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Satellite Land Cover Segmentation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52125" y="5510927"/>
            <a:ext cx="12895796" cy="1318888"/>
            <a:chOff x="0" y="0"/>
            <a:chExt cx="16093440" cy="1645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934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16093440" cy="1750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0"/>
                </a:lnSpc>
              </a:pPr>
              <a:r>
                <a:rPr lang="en-US" sz="2100">
                  <a:solidFill>
                    <a:srgbClr val="CBD6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End-to-end multispectral remote sensing platform — PyTorch ResNet-34 U-Net encoder, a native C++17 acceleration engine, and a full-stack Web GIS dashboard.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7338060"/>
            <a:ext cx="3566160" cy="822960"/>
            <a:chOff x="0" y="0"/>
            <a:chExt cx="475488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7548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16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34440" y="8161020"/>
            <a:ext cx="3566160" cy="480060"/>
            <a:chOff x="0" y="0"/>
            <a:chExt cx="475488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7548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50">
                  <a:solidFill>
                    <a:srgbClr val="9FB0B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INPUT CHANNELS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006340" y="7338060"/>
            <a:ext cx="3566160" cy="822960"/>
            <a:chOff x="0" y="0"/>
            <a:chExt cx="475488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7548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006340" y="8161020"/>
            <a:ext cx="3566160" cy="480060"/>
            <a:chOff x="0" y="0"/>
            <a:chExt cx="475488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7548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50">
                  <a:solidFill>
                    <a:srgbClr val="9FB0B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LAND COVER CLASSES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778240" y="7338060"/>
            <a:ext cx="3566160" cy="822960"/>
            <a:chOff x="0" y="0"/>
            <a:chExt cx="475488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7548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0.9695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778240" y="8161020"/>
            <a:ext cx="3566160" cy="480060"/>
            <a:chOff x="0" y="0"/>
            <a:chExt cx="4754880" cy="640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54880" cy="640080"/>
            </a:xfrm>
            <a:custGeom>
              <a:avLst/>
              <a:gdLst/>
              <a:ahLst/>
              <a:cxnLst/>
              <a:rect r="r" b="b" t="t" l="l"/>
              <a:pathLst>
                <a:path h="6400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745" r="0" b="-9474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75488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spc="150">
                  <a:solidFill>
                    <a:srgbClr val="9FB0B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 MIOU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3504015" y="-2790290"/>
            <a:ext cx="7332404" cy="7332404"/>
          </a:xfrm>
          <a:custGeom>
            <a:avLst/>
            <a:gdLst/>
            <a:ahLst/>
            <a:cxnLst/>
            <a:rect r="r" b="b" t="t" l="l"/>
            <a:pathLst>
              <a:path h="7332404" w="7332404">
                <a:moveTo>
                  <a:pt x="0" y="0"/>
                </a:moveTo>
                <a:lnTo>
                  <a:pt x="7332404" y="0"/>
                </a:lnTo>
                <a:lnTo>
                  <a:pt x="7332404" y="7332404"/>
                </a:lnTo>
                <a:lnTo>
                  <a:pt x="0" y="7332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3828374" y="6764603"/>
            <a:ext cx="5160069" cy="4179656"/>
          </a:xfrm>
          <a:custGeom>
            <a:avLst/>
            <a:gdLst/>
            <a:ahLst/>
            <a:cxnLst/>
            <a:rect r="r" b="b" t="t" l="l"/>
            <a:pathLst>
              <a:path h="4179656" w="5160069">
                <a:moveTo>
                  <a:pt x="0" y="0"/>
                </a:moveTo>
                <a:lnTo>
                  <a:pt x="5160069" y="0"/>
                </a:lnTo>
                <a:lnTo>
                  <a:pt x="5160069" y="4179656"/>
                </a:lnTo>
                <a:lnTo>
                  <a:pt x="0" y="41796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963829" y="436453"/>
            <a:ext cx="4788223" cy="1939705"/>
          </a:xfrm>
          <a:custGeom>
            <a:avLst/>
            <a:gdLst/>
            <a:ahLst/>
            <a:cxnLst/>
            <a:rect r="r" b="b" t="t" l="l"/>
            <a:pathLst>
              <a:path h="1939705" w="4788223">
                <a:moveTo>
                  <a:pt x="0" y="0"/>
                </a:moveTo>
                <a:lnTo>
                  <a:pt x="4788224" y="0"/>
                </a:lnTo>
                <a:lnTo>
                  <a:pt x="4788224" y="1939705"/>
                </a:lnTo>
                <a:lnTo>
                  <a:pt x="0" y="1939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6949" y="-1941677"/>
            <a:ext cx="32877742" cy="5940754"/>
            <a:chOff x="0" y="0"/>
            <a:chExt cx="21214080" cy="38332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214080" cy="3833220"/>
            </a:xfrm>
            <a:custGeom>
              <a:avLst/>
              <a:gdLst/>
              <a:ahLst/>
              <a:cxnLst/>
              <a:rect r="r" b="b" t="t" l="l"/>
              <a:pathLst>
                <a:path h="383322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3833220"/>
                  </a:lnTo>
                  <a:lnTo>
                    <a:pt x="0" y="38332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95" r="0" b="-340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1214080" cy="3852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b="true" sz="8100" spc="29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Group members: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6949" y="5143500"/>
            <a:ext cx="32877742" cy="5940754"/>
            <a:chOff x="0" y="0"/>
            <a:chExt cx="21214080" cy="38332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4080" cy="3833220"/>
            </a:xfrm>
            <a:custGeom>
              <a:avLst/>
              <a:gdLst/>
              <a:ahLst/>
              <a:cxnLst/>
              <a:rect r="r" b="b" t="t" l="l"/>
              <a:pathLst>
                <a:path h="383322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3833220"/>
                  </a:lnTo>
                  <a:lnTo>
                    <a:pt x="0" y="38332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1595" r="0" b="-340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214080" cy="3852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b="true" sz="8100" spc="29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Supervisor</a:t>
              </a:r>
              <a:r>
                <a:rPr lang="en-US" b="true" sz="8100" spc="29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: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69503" y="-45599"/>
            <a:ext cx="11811445" cy="11804062"/>
          </a:xfrm>
          <a:custGeom>
            <a:avLst/>
            <a:gdLst/>
            <a:ahLst/>
            <a:cxnLst/>
            <a:rect r="r" b="b" t="t" l="l"/>
            <a:pathLst>
              <a:path h="11804062" w="11811445">
                <a:moveTo>
                  <a:pt x="0" y="0"/>
                </a:moveTo>
                <a:lnTo>
                  <a:pt x="11811445" y="0"/>
                </a:lnTo>
                <a:lnTo>
                  <a:pt x="11811445" y="11804063"/>
                </a:lnTo>
                <a:lnTo>
                  <a:pt x="0" y="118040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6949" y="2164427"/>
            <a:ext cx="9326548" cy="4395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5"/>
              </a:lnSpc>
              <a:spcBef>
                <a:spcPct val="0"/>
              </a:spcBef>
            </a:pPr>
            <a:r>
              <a:rPr lang="en-US" b="true" sz="53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Yajat kataria 25BCE10191</a:t>
            </a:r>
          </a:p>
          <a:p>
            <a:pPr algn="l">
              <a:lnSpc>
                <a:spcPts val="6765"/>
              </a:lnSpc>
              <a:spcBef>
                <a:spcPct val="0"/>
              </a:spcBef>
            </a:pPr>
            <a:r>
              <a:rPr lang="en-US" b="true" sz="53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Anushka mathur 25BCE10039</a:t>
            </a:r>
          </a:p>
          <a:p>
            <a:pPr algn="l">
              <a:lnSpc>
                <a:spcPts val="6765"/>
              </a:lnSpc>
              <a:spcBef>
                <a:spcPct val="0"/>
              </a:spcBef>
            </a:pPr>
            <a:r>
              <a:rPr lang="en-US" b="true" sz="53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Gaurav Jain 25BCE11422 </a:t>
            </a:r>
          </a:p>
          <a:p>
            <a:pPr algn="l">
              <a:lnSpc>
                <a:spcPts val="6765"/>
              </a:lnSpc>
              <a:spcBef>
                <a:spcPct val="0"/>
              </a:spcBef>
            </a:pPr>
            <a:r>
              <a:rPr lang="en-US" b="true" sz="53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Tanisha  25BCE10578</a:t>
            </a:r>
          </a:p>
          <a:p>
            <a:pPr algn="l">
              <a:lnSpc>
                <a:spcPts val="6765"/>
              </a:lnSpc>
              <a:spcBef>
                <a:spcPct val="0"/>
              </a:spcBef>
            </a:pPr>
            <a:r>
              <a:rPr lang="en-US" b="true" sz="53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Sanidhya Wabhitkar 25BCE10355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6949" y="8706523"/>
            <a:ext cx="5105713" cy="9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5"/>
              </a:lnSpc>
              <a:spcBef>
                <a:spcPct val="0"/>
              </a:spcBef>
            </a:pPr>
            <a:r>
              <a:rPr lang="en-US" b="true" sz="536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Dr. Rajneesh Patel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-692830"/>
            <a:ext cx="10972800" cy="4327570"/>
            <a:chOff x="0" y="0"/>
            <a:chExt cx="14630400" cy="57700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770093"/>
            </a:xfrm>
            <a:custGeom>
              <a:avLst/>
              <a:gdLst/>
              <a:ahLst/>
              <a:cxnLst/>
              <a:rect r="r" b="b" t="t" l="l"/>
              <a:pathLst>
                <a:path h="5770093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770093"/>
                  </a:lnTo>
                  <a:lnTo>
                    <a:pt x="0" y="57700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97" r="0" b="410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630400" cy="57700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80"/>
                </a:lnSpc>
              </a:pPr>
              <a:r>
                <a:rPr lang="en-US" sz="5900" b="true">
                  <a:solidFill>
                    <a:srgbClr val="1726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Introduction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331720"/>
            <a:ext cx="14401800" cy="548640"/>
            <a:chOff x="0" y="0"/>
            <a:chExt cx="192024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20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B7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Why ordinary photos are not enough to understand the Earth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55580" y="2400300"/>
            <a:ext cx="7132320" cy="3223260"/>
            <a:chOff x="0" y="0"/>
            <a:chExt cx="9509760" cy="4297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09761" cy="4297680"/>
            </a:xfrm>
            <a:custGeom>
              <a:avLst/>
              <a:gdLst/>
              <a:ahLst/>
              <a:cxnLst/>
              <a:rect r="r" b="b" t="t" l="l"/>
              <a:pathLst>
                <a:path h="4297680" w="95097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363456" y="0"/>
                  </a:lnTo>
                  <a:cubicBezTo>
                    <a:pt x="9444228" y="0"/>
                    <a:pt x="9509761" y="65532"/>
                    <a:pt x="9509761" y="146304"/>
                  </a:cubicBezTo>
                  <a:lnTo>
                    <a:pt x="9509761" y="4151376"/>
                  </a:lnTo>
                  <a:cubicBezTo>
                    <a:pt x="9509761" y="4232148"/>
                    <a:pt x="9444228" y="4297680"/>
                    <a:pt x="93634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FDECE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35640" y="2674620"/>
            <a:ext cx="6172200" cy="411480"/>
            <a:chOff x="0" y="0"/>
            <a:chExt cx="82296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229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B23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RGB CAMERA VIEW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35640" y="3154680"/>
            <a:ext cx="6172200" cy="960120"/>
            <a:chOff x="0" y="0"/>
            <a:chExt cx="822960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29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82296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7A2E2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channels — cannot tell a green roof from a forest, or a dry field from bare soil.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35640" y="4320540"/>
            <a:ext cx="6172200" cy="548640"/>
            <a:chOff x="0" y="0"/>
            <a:chExt cx="82296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29600" cy="731520"/>
            </a:xfrm>
            <a:custGeom>
              <a:avLst/>
              <a:gdLst/>
              <a:ahLst/>
              <a:cxnLst/>
              <a:rect r="r" b="b" t="t" l="l"/>
              <a:pathLst>
                <a:path h="73152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229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B23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 Confuses visually-similar materials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355580" y="5897880"/>
            <a:ext cx="7132320" cy="3223260"/>
            <a:chOff x="0" y="0"/>
            <a:chExt cx="9509760" cy="4297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09761" cy="4297680"/>
            </a:xfrm>
            <a:custGeom>
              <a:avLst/>
              <a:gdLst/>
              <a:ahLst/>
              <a:cxnLst/>
              <a:rect r="r" b="b" t="t" l="l"/>
              <a:pathLst>
                <a:path h="4297680" w="95097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363456" y="0"/>
                  </a:lnTo>
                  <a:cubicBezTo>
                    <a:pt x="9444228" y="0"/>
                    <a:pt x="9509761" y="65532"/>
                    <a:pt x="9509761" y="146304"/>
                  </a:cubicBezTo>
                  <a:lnTo>
                    <a:pt x="9509761" y="4151376"/>
                  </a:lnTo>
                  <a:cubicBezTo>
                    <a:pt x="9509761" y="4232148"/>
                    <a:pt x="9444228" y="4297680"/>
                    <a:pt x="9363456" y="4297680"/>
                  </a:cubicBezTo>
                  <a:lnTo>
                    <a:pt x="146304" y="4297680"/>
                  </a:lnTo>
                  <a:cubicBezTo>
                    <a:pt x="65532" y="4297680"/>
                    <a:pt x="0" y="4232148"/>
                    <a:pt x="0" y="4151376"/>
                  </a:cubicBezTo>
                  <a:close/>
                </a:path>
              </a:pathLst>
            </a:custGeom>
            <a:solidFill>
              <a:srgbClr val="E7F3E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835640" y="6172200"/>
            <a:ext cx="6172200" cy="411480"/>
            <a:chOff x="0" y="0"/>
            <a:chExt cx="82296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8229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F5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GEOSEG 16-CHANNEL VIEW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835640" y="6652260"/>
            <a:ext cx="6172200" cy="1182521"/>
            <a:chOff x="0" y="0"/>
            <a:chExt cx="8229600" cy="15766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29600" cy="1576694"/>
            </a:xfrm>
            <a:custGeom>
              <a:avLst/>
              <a:gdLst/>
              <a:ahLst/>
              <a:cxnLst/>
              <a:rect r="r" b="b" t="t" l="l"/>
              <a:pathLst>
                <a:path h="1576694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576694"/>
                  </a:lnTo>
                  <a:lnTo>
                    <a:pt x="0" y="15766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106" r="0" b="-4229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8229600" cy="1671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204A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 Sentinel-2 bands + 3 spectral indices — reads chlorophyll reflection, water absorption and thermal bounce.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835640" y="7818120"/>
            <a:ext cx="6172200" cy="548640"/>
            <a:chOff x="0" y="0"/>
            <a:chExt cx="822960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9600" cy="731520"/>
            </a:xfrm>
            <a:custGeom>
              <a:avLst/>
              <a:gdLst/>
              <a:ahLst/>
              <a:cxnLst/>
              <a:rect r="r" b="b" t="t" l="l"/>
              <a:pathLst>
                <a:path h="73152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229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5E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Separates materials RGB cannot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-21941" y="8092440"/>
            <a:ext cx="1689802" cy="2283516"/>
          </a:xfrm>
          <a:custGeom>
            <a:avLst/>
            <a:gdLst/>
            <a:ahLst/>
            <a:cxnLst/>
            <a:rect r="r" b="b" t="t" l="l"/>
            <a:pathLst>
              <a:path h="2283516" w="1689802">
                <a:moveTo>
                  <a:pt x="0" y="0"/>
                </a:moveTo>
                <a:lnTo>
                  <a:pt x="1689802" y="0"/>
                </a:lnTo>
                <a:lnTo>
                  <a:pt x="1689802" y="2283516"/>
                </a:lnTo>
                <a:lnTo>
                  <a:pt x="0" y="2283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822960" y="3154680"/>
            <a:ext cx="8732520" cy="221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</a:pPr>
            <a:r>
              <a:rPr lang="en-US" sz="2175">
                <a:solidFill>
                  <a:srgbClr val="17262E"/>
                </a:solidFill>
                <a:latin typeface="Calibri (MS)"/>
                <a:ea typeface="Calibri (MS)"/>
                <a:cs typeface="Calibri (MS)"/>
                <a:sym typeface="Calibri (MS)"/>
              </a:rPr>
              <a:t>A standard airplane photo or phone camera only records three colors — Red, Green and Blue. A green plastic roof, a toxic algae pond, a football field and a rainforest canopy can all look almost identical to a machine trained only on RGB.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22960" y="5956935"/>
            <a:ext cx="8732520" cy="180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sz="2300" b="true">
                <a:solidFill>
                  <a:srgbClr val="1F5E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GeoSeg looks past visible light. </a:t>
            </a:r>
            <a:r>
              <a:rPr lang="en-US" sz="2300">
                <a:solidFill>
                  <a:srgbClr val="17262E"/>
                </a:solidFill>
                <a:latin typeface="Calibri (MS)"/>
                <a:ea typeface="Calibri (MS)"/>
                <a:cs typeface="Calibri (MS)"/>
                <a:sym typeface="Calibri (MS)"/>
              </a:rPr>
              <a:t>Using ESA Sentinel-2 satellites orbiting 786 km overhead, it reads Near-Infrared and Shortwave-Infrared bands invisible to the human eye — where healthy vegetation, water and built surfaces each leave a distinct signature.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2344400" cy="822960"/>
            <a:chOff x="0" y="0"/>
            <a:chExt cx="16459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64592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Project 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9FB0B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GeoSeg set out to build and prove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5227168" cy="2948940"/>
            <a:chOff x="0" y="0"/>
            <a:chExt cx="6969557" cy="3931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69506" cy="3931920"/>
            </a:xfrm>
            <a:custGeom>
              <a:avLst/>
              <a:gdLst/>
              <a:ahLst/>
              <a:cxnLst/>
              <a:rect r="r" b="b" t="t" l="l"/>
              <a:pathLst>
                <a:path h="3931920" w="696950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23202" y="0"/>
                  </a:lnTo>
                  <a:cubicBezTo>
                    <a:pt x="6903974" y="0"/>
                    <a:pt x="6969506" y="65532"/>
                    <a:pt x="6969506" y="146304"/>
                  </a:cubicBezTo>
                  <a:lnTo>
                    <a:pt x="6969506" y="3785616"/>
                  </a:lnTo>
                  <a:cubicBezTo>
                    <a:pt x="6969506" y="3866388"/>
                    <a:pt x="6903974" y="3931920"/>
                    <a:pt x="682320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88036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3929" y="2978429"/>
            <a:ext cx="558241" cy="558241"/>
            <a:chOff x="0" y="0"/>
            <a:chExt cx="744322" cy="744322"/>
          </a:xfrm>
        </p:grpSpPr>
        <p:sp>
          <p:nvSpPr>
            <p:cNvPr name="Freeform 13" id="13" descr="/home/claude/icons/bullseye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3840480"/>
            <a:ext cx="4541368" cy="754380"/>
            <a:chOff x="0" y="0"/>
            <a:chExt cx="6055157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55156" cy="1005840"/>
            </a:xfrm>
            <a:custGeom>
              <a:avLst/>
              <a:gdLst/>
              <a:ahLst/>
              <a:cxnLst/>
              <a:rect r="r" b="b" t="t" l="l"/>
              <a:pathLst>
                <a:path h="1005840" w="6055156">
                  <a:moveTo>
                    <a:pt x="0" y="0"/>
                  </a:moveTo>
                  <a:lnTo>
                    <a:pt x="6055156" y="0"/>
                  </a:lnTo>
                  <a:lnTo>
                    <a:pt x="605515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299" r="0" b="-6729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055157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Dense pixel-wise classification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5860" y="4567428"/>
            <a:ext cx="4541368" cy="822960"/>
            <a:chOff x="0" y="0"/>
            <a:chExt cx="6055157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55156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55156">
                  <a:moveTo>
                    <a:pt x="0" y="0"/>
                  </a:moveTo>
                  <a:lnTo>
                    <a:pt x="6055156" y="0"/>
                  </a:lnTo>
                  <a:lnTo>
                    <a:pt x="605515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24" r="0" b="-5752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055157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B9C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Segment every 10m × 10m ground patch into one of 11 land-cover classes from raw satellite imagery.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30188" y="2537460"/>
            <a:ext cx="5227168" cy="2948940"/>
            <a:chOff x="0" y="0"/>
            <a:chExt cx="6969557" cy="3931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69506" cy="3931920"/>
            </a:xfrm>
            <a:custGeom>
              <a:avLst/>
              <a:gdLst/>
              <a:ahLst/>
              <a:cxnLst/>
              <a:rect r="r" b="b" t="t" l="l"/>
              <a:pathLst>
                <a:path h="3931920" w="696950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23202" y="0"/>
                  </a:lnTo>
                  <a:cubicBezTo>
                    <a:pt x="6903974" y="0"/>
                    <a:pt x="6969506" y="65532"/>
                    <a:pt x="6969506" y="146304"/>
                  </a:cubicBezTo>
                  <a:lnTo>
                    <a:pt x="6969506" y="3785616"/>
                  </a:lnTo>
                  <a:cubicBezTo>
                    <a:pt x="6969506" y="3866388"/>
                    <a:pt x="6903974" y="3931920"/>
                    <a:pt x="682320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73088" y="2880360"/>
            <a:ext cx="754380" cy="754380"/>
            <a:chOff x="0" y="0"/>
            <a:chExt cx="100584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71157" y="2978429"/>
            <a:ext cx="558241" cy="558241"/>
            <a:chOff x="0" y="0"/>
            <a:chExt cx="744322" cy="744322"/>
          </a:xfrm>
        </p:grpSpPr>
        <p:sp>
          <p:nvSpPr>
            <p:cNvPr name="Freeform 25" id="25" descr="/home/claude/icons/layers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873088" y="3840480"/>
            <a:ext cx="4541368" cy="754380"/>
            <a:chOff x="0" y="0"/>
            <a:chExt cx="6055157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55156" cy="1005840"/>
            </a:xfrm>
            <a:custGeom>
              <a:avLst/>
              <a:gdLst/>
              <a:ahLst/>
              <a:cxnLst/>
              <a:rect r="r" b="b" t="t" l="l"/>
              <a:pathLst>
                <a:path h="1005840" w="6055156">
                  <a:moveTo>
                    <a:pt x="0" y="0"/>
                  </a:moveTo>
                  <a:lnTo>
                    <a:pt x="6055156" y="0"/>
                  </a:lnTo>
                  <a:lnTo>
                    <a:pt x="605515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299" r="0" b="-6729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055157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Fuse 16 spectral channels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73088" y="4567428"/>
            <a:ext cx="4541368" cy="822960"/>
            <a:chOff x="0" y="0"/>
            <a:chExt cx="6055157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55156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55156">
                  <a:moveTo>
                    <a:pt x="0" y="0"/>
                  </a:moveTo>
                  <a:lnTo>
                    <a:pt x="6055156" y="0"/>
                  </a:lnTo>
                  <a:lnTo>
                    <a:pt x="605515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24" r="0" b="-5752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055157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B9C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 13 raw Sentinel-2 bands with 3 physics-based indices (NDVI, NDWI, NDBI) for richer input.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37415" y="2537460"/>
            <a:ext cx="5227168" cy="2948940"/>
            <a:chOff x="0" y="0"/>
            <a:chExt cx="6969557" cy="3931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69506" cy="3931920"/>
            </a:xfrm>
            <a:custGeom>
              <a:avLst/>
              <a:gdLst/>
              <a:ahLst/>
              <a:cxnLst/>
              <a:rect r="r" b="b" t="t" l="l"/>
              <a:pathLst>
                <a:path h="3931920" w="696950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23202" y="0"/>
                  </a:lnTo>
                  <a:cubicBezTo>
                    <a:pt x="6903974" y="0"/>
                    <a:pt x="6969506" y="65532"/>
                    <a:pt x="6969506" y="146304"/>
                  </a:cubicBezTo>
                  <a:lnTo>
                    <a:pt x="6969506" y="3785616"/>
                  </a:lnTo>
                  <a:cubicBezTo>
                    <a:pt x="6969506" y="3866388"/>
                    <a:pt x="6903974" y="3931920"/>
                    <a:pt x="682320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580315" y="2880360"/>
            <a:ext cx="754380" cy="754380"/>
            <a:chOff x="0" y="0"/>
            <a:chExt cx="100584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678385" y="2978429"/>
            <a:ext cx="558241" cy="558241"/>
            <a:chOff x="0" y="0"/>
            <a:chExt cx="744322" cy="744322"/>
          </a:xfrm>
        </p:grpSpPr>
        <p:sp>
          <p:nvSpPr>
            <p:cNvPr name="Freeform 37" id="37" descr="/home/claude/icons/brain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580315" y="3840480"/>
            <a:ext cx="4541368" cy="754380"/>
            <a:chOff x="0" y="0"/>
            <a:chExt cx="6055157" cy="1005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055156" cy="1005840"/>
            </a:xfrm>
            <a:custGeom>
              <a:avLst/>
              <a:gdLst/>
              <a:ahLst/>
              <a:cxnLst/>
              <a:rect r="r" b="b" t="t" l="l"/>
              <a:pathLst>
                <a:path h="1005840" w="6055156">
                  <a:moveTo>
                    <a:pt x="0" y="0"/>
                  </a:moveTo>
                  <a:lnTo>
                    <a:pt x="6055156" y="0"/>
                  </a:lnTo>
                  <a:lnTo>
                    <a:pt x="605515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299" r="0" b="-6729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055157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Adapt pretrained vision models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580315" y="4567428"/>
            <a:ext cx="4541368" cy="822960"/>
            <a:chOff x="0" y="0"/>
            <a:chExt cx="6055157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55156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55156">
                  <a:moveTo>
                    <a:pt x="0" y="0"/>
                  </a:moveTo>
                  <a:lnTo>
                    <a:pt x="6055156" y="0"/>
                  </a:lnTo>
                  <a:lnTo>
                    <a:pt x="605515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24" r="0" b="-5752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055157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B9C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Expand ImageNet-pretrained 3-channel weights into a 16-channel ResNet-34 U-Net without discarding learned filters.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5966460"/>
            <a:ext cx="5227168" cy="2948940"/>
            <a:chOff x="0" y="0"/>
            <a:chExt cx="6969557" cy="3931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69506" cy="3931920"/>
            </a:xfrm>
            <a:custGeom>
              <a:avLst/>
              <a:gdLst/>
              <a:ahLst/>
              <a:cxnLst/>
              <a:rect r="r" b="b" t="t" l="l"/>
              <a:pathLst>
                <a:path h="3931920" w="696950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23202" y="0"/>
                  </a:lnTo>
                  <a:cubicBezTo>
                    <a:pt x="6903974" y="0"/>
                    <a:pt x="6969506" y="65532"/>
                    <a:pt x="6969506" y="146304"/>
                  </a:cubicBezTo>
                  <a:lnTo>
                    <a:pt x="6969506" y="3785616"/>
                  </a:lnTo>
                  <a:cubicBezTo>
                    <a:pt x="6969506" y="3866388"/>
                    <a:pt x="6903974" y="3931920"/>
                    <a:pt x="682320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65860" y="6309360"/>
            <a:ext cx="754380" cy="754380"/>
            <a:chOff x="0" y="0"/>
            <a:chExt cx="100584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63929" y="6407429"/>
            <a:ext cx="558241" cy="558241"/>
            <a:chOff x="0" y="0"/>
            <a:chExt cx="744322" cy="744322"/>
          </a:xfrm>
        </p:grpSpPr>
        <p:sp>
          <p:nvSpPr>
            <p:cNvPr name="Freeform 49" id="49" descr="/home/claude/icons/bolt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65860" y="7269480"/>
            <a:ext cx="4541368" cy="754380"/>
            <a:chOff x="0" y="0"/>
            <a:chExt cx="6055157" cy="1005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55156" cy="1005840"/>
            </a:xfrm>
            <a:custGeom>
              <a:avLst/>
              <a:gdLst/>
              <a:ahLst/>
              <a:cxnLst/>
              <a:rect r="r" b="b" t="t" l="l"/>
              <a:pathLst>
                <a:path h="1005840" w="6055156">
                  <a:moveTo>
                    <a:pt x="0" y="0"/>
                  </a:moveTo>
                  <a:lnTo>
                    <a:pt x="6055156" y="0"/>
                  </a:lnTo>
                  <a:lnTo>
                    <a:pt x="605515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299" r="0" b="-6729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055157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 for performance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65860" y="7996428"/>
            <a:ext cx="4541368" cy="822960"/>
            <a:chOff x="0" y="0"/>
            <a:chExt cx="6055157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055156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55156">
                  <a:moveTo>
                    <a:pt x="0" y="0"/>
                  </a:moveTo>
                  <a:lnTo>
                    <a:pt x="6055156" y="0"/>
                  </a:lnTo>
                  <a:lnTo>
                    <a:pt x="605515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24" r="0" b="-5752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055157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B9C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Offload tiling and band math to a native C++17 engine for large-raster, low-latency processing.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530188" y="5966460"/>
            <a:ext cx="5227168" cy="2948940"/>
            <a:chOff x="0" y="0"/>
            <a:chExt cx="6969557" cy="39319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69506" cy="3931920"/>
            </a:xfrm>
            <a:custGeom>
              <a:avLst/>
              <a:gdLst/>
              <a:ahLst/>
              <a:cxnLst/>
              <a:rect r="r" b="b" t="t" l="l"/>
              <a:pathLst>
                <a:path h="3931920" w="696950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23202" y="0"/>
                  </a:lnTo>
                  <a:cubicBezTo>
                    <a:pt x="6903974" y="0"/>
                    <a:pt x="6969506" y="65532"/>
                    <a:pt x="6969506" y="146304"/>
                  </a:cubicBezTo>
                  <a:lnTo>
                    <a:pt x="6969506" y="3785616"/>
                  </a:lnTo>
                  <a:cubicBezTo>
                    <a:pt x="6969506" y="3866388"/>
                    <a:pt x="6903974" y="3931920"/>
                    <a:pt x="682320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873088" y="6309360"/>
            <a:ext cx="754380" cy="754380"/>
            <a:chOff x="0" y="0"/>
            <a:chExt cx="1005840" cy="10058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971157" y="6407429"/>
            <a:ext cx="558241" cy="558241"/>
            <a:chOff x="0" y="0"/>
            <a:chExt cx="744322" cy="744322"/>
          </a:xfrm>
        </p:grpSpPr>
        <p:sp>
          <p:nvSpPr>
            <p:cNvPr name="Freeform 61" id="61" descr="/home/claude/icons/desktop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3" b="3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873088" y="7269480"/>
            <a:ext cx="4541368" cy="754380"/>
            <a:chOff x="0" y="0"/>
            <a:chExt cx="6055157" cy="1005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055156" cy="1005840"/>
            </a:xfrm>
            <a:custGeom>
              <a:avLst/>
              <a:gdLst/>
              <a:ahLst/>
              <a:cxnLst/>
              <a:rect r="r" b="b" t="t" l="l"/>
              <a:pathLst>
                <a:path h="1005840" w="6055156">
                  <a:moveTo>
                    <a:pt x="0" y="0"/>
                  </a:moveTo>
                  <a:lnTo>
                    <a:pt x="6055156" y="0"/>
                  </a:lnTo>
                  <a:lnTo>
                    <a:pt x="605515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299" r="0" b="-6729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6055157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Deliver an end-to-end platform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73088" y="7996428"/>
            <a:ext cx="4541368" cy="822960"/>
            <a:chOff x="0" y="0"/>
            <a:chExt cx="6055157" cy="10972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055156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55156">
                  <a:moveTo>
                    <a:pt x="0" y="0"/>
                  </a:moveTo>
                  <a:lnTo>
                    <a:pt x="6055156" y="0"/>
                  </a:lnTo>
                  <a:lnTo>
                    <a:pt x="605515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24" r="0" b="-5752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6055157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B9C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Wrap the model in a REST API and a React GIS dashboard so any region on Earth can be selected and segmented.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237415" y="5966460"/>
            <a:ext cx="5227168" cy="2948940"/>
            <a:chOff x="0" y="0"/>
            <a:chExt cx="6969557" cy="39319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969506" cy="3931920"/>
            </a:xfrm>
            <a:custGeom>
              <a:avLst/>
              <a:gdLst/>
              <a:ahLst/>
              <a:cxnLst/>
              <a:rect r="r" b="b" t="t" l="l"/>
              <a:pathLst>
                <a:path h="3931920" w="696950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23202" y="0"/>
                  </a:lnTo>
                  <a:cubicBezTo>
                    <a:pt x="6903974" y="0"/>
                    <a:pt x="6969506" y="65532"/>
                    <a:pt x="6969506" y="146304"/>
                  </a:cubicBezTo>
                  <a:lnTo>
                    <a:pt x="6969506" y="3785616"/>
                  </a:lnTo>
                  <a:cubicBezTo>
                    <a:pt x="6969506" y="3866388"/>
                    <a:pt x="6903974" y="3931920"/>
                    <a:pt x="682320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580315" y="6309360"/>
            <a:ext cx="754380" cy="754380"/>
            <a:chOff x="0" y="0"/>
            <a:chExt cx="1005840" cy="1005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678385" y="6407429"/>
            <a:ext cx="558241" cy="558241"/>
            <a:chOff x="0" y="0"/>
            <a:chExt cx="744322" cy="744322"/>
          </a:xfrm>
        </p:grpSpPr>
        <p:sp>
          <p:nvSpPr>
            <p:cNvPr name="Freeform 73" id="73" descr="/home/claude/icons/award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3" b="3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580315" y="7269480"/>
            <a:ext cx="4541368" cy="754380"/>
            <a:chOff x="0" y="0"/>
            <a:chExt cx="6055157" cy="10058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055156" cy="1005840"/>
            </a:xfrm>
            <a:custGeom>
              <a:avLst/>
              <a:gdLst/>
              <a:ahLst/>
              <a:cxnLst/>
              <a:rect r="r" b="b" t="t" l="l"/>
              <a:pathLst>
                <a:path h="1005840" w="6055156">
                  <a:moveTo>
                    <a:pt x="0" y="0"/>
                  </a:moveTo>
                  <a:lnTo>
                    <a:pt x="6055156" y="0"/>
                  </a:lnTo>
                  <a:lnTo>
                    <a:pt x="605515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299" r="0" b="-6729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055157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1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Validate scientifically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580315" y="7996428"/>
            <a:ext cx="4541368" cy="822960"/>
            <a:chOff x="0" y="0"/>
            <a:chExt cx="6055157" cy="10972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055156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55156">
                  <a:moveTo>
                    <a:pt x="0" y="0"/>
                  </a:moveTo>
                  <a:lnTo>
                    <a:pt x="6055156" y="0"/>
                  </a:lnTo>
                  <a:lnTo>
                    <a:pt x="605515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24" r="0" b="-5752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055157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575">
                  <a:solidFill>
                    <a:srgbClr val="B9C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Reach production-grade accuracy (mIoU) while guarding against spatial data leakage and class imbalance.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B7C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2344400" cy="822960"/>
            <a:chOff x="0" y="0"/>
            <a:chExt cx="16459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459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26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3 Channels to 16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B7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extra channel gives the model a new physical sense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716" y="1591056"/>
            <a:ext cx="9710928" cy="6967728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9464040" y="2537460"/>
            <a:ext cx="754380" cy="754380"/>
            <a:chOff x="0" y="0"/>
            <a:chExt cx="1005840" cy="1005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62109" y="2635529"/>
            <a:ext cx="558241" cy="558241"/>
            <a:chOff x="0" y="0"/>
            <a:chExt cx="744322" cy="744322"/>
          </a:xfrm>
        </p:grpSpPr>
        <p:sp>
          <p:nvSpPr>
            <p:cNvPr name="Freeform 12" id="12" descr="/home/claude/icons/flask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424160" y="2537460"/>
            <a:ext cx="6995160" cy="480060"/>
            <a:chOff x="0" y="0"/>
            <a:chExt cx="932688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326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Physics-based indices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424160" y="3031236"/>
            <a:ext cx="6995160" cy="1165860"/>
            <a:chOff x="0" y="0"/>
            <a:chExt cx="9326880" cy="1554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268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932688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0"/>
                </a:lnSpc>
              </a:pPr>
              <a:r>
                <a:rPr lang="en-US" sz="200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NDVI, NDWI, NDBI are computed from the raw bands, adding vegetation, water and built-up signals directly into the input tensor.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64040" y="4293108"/>
            <a:ext cx="754380" cy="754380"/>
            <a:chOff x="0" y="0"/>
            <a:chExt cx="100584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562109" y="4391177"/>
            <a:ext cx="558241" cy="558241"/>
            <a:chOff x="0" y="0"/>
            <a:chExt cx="744322" cy="744322"/>
          </a:xfrm>
        </p:grpSpPr>
        <p:sp>
          <p:nvSpPr>
            <p:cNvPr name="Freeform 22" id="22" descr="/home/claude/icons/brain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424160" y="4293108"/>
            <a:ext cx="6995160" cy="480060"/>
            <a:chOff x="0" y="0"/>
            <a:chExt cx="932688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326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pretrained knowledge lost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24160" y="4786884"/>
            <a:ext cx="6995160" cy="1165860"/>
            <a:chOff x="0" y="0"/>
            <a:chExt cx="932688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268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93268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5"/>
                </a:lnSpc>
              </a:pPr>
              <a:r>
                <a:rPr lang="en-US" sz="1899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weight-expansion formula spreads 3-channel ImageNet filters across all 16 channels before training begins.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64040" y="6048756"/>
            <a:ext cx="754380" cy="754380"/>
            <a:chOff x="0" y="0"/>
            <a:chExt cx="100584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562109" y="6146825"/>
            <a:ext cx="558241" cy="558241"/>
            <a:chOff x="0" y="0"/>
            <a:chExt cx="744322" cy="744322"/>
          </a:xfrm>
        </p:grpSpPr>
        <p:sp>
          <p:nvSpPr>
            <p:cNvPr name="Freeform 32" id="32" descr="/home/claude/icons/check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424160" y="6048756"/>
            <a:ext cx="6995160" cy="480060"/>
            <a:chOff x="0" y="0"/>
            <a:chExt cx="9326880" cy="640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326880" cy="640080"/>
            </a:xfrm>
            <a:custGeom>
              <a:avLst/>
              <a:gdLst/>
              <a:ahLst/>
              <a:cxnLst/>
              <a:rect r="r" b="b" t="t" l="l"/>
              <a:pathLst>
                <a:path h="6400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3392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3268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424160" y="6542532"/>
            <a:ext cx="6995160" cy="1165860"/>
            <a:chOff x="0" y="0"/>
            <a:chExt cx="9326880" cy="15544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3268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932688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0"/>
                </a:lnSpc>
              </a:pPr>
              <a:r>
                <a:rPr lang="en-US" sz="200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network sees chlorophyll reflection, water absorption and thermal bounce — signals invisible to any RGB sensor.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3716000" cy="822960"/>
            <a:chOff x="0" y="0"/>
            <a:chExt cx="182880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11-Class Land Cover Taxonomy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440180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28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i="true">
                  <a:solidFill>
                    <a:srgbClr val="9FB0B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pixel is assigned one physically-grounded class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2522144" cy="2400300"/>
            <a:chOff x="0" y="0"/>
            <a:chExt cx="3362858" cy="3200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62833" cy="3200400"/>
            </a:xfrm>
            <a:custGeom>
              <a:avLst/>
              <a:gdLst/>
              <a:ahLst/>
              <a:cxnLst/>
              <a:rect r="r" b="b" t="t" l="l"/>
              <a:pathLst>
                <a:path h="3200400" w="3362833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234817" y="0"/>
                  </a:lnTo>
                  <a:cubicBezTo>
                    <a:pt x="3305556" y="0"/>
                    <a:pt x="3362833" y="57277"/>
                    <a:pt x="3362833" y="128016"/>
                  </a:cubicBezTo>
                  <a:lnTo>
                    <a:pt x="3362833" y="3072384"/>
                  </a:lnTo>
                  <a:cubicBezTo>
                    <a:pt x="3362833" y="3143123"/>
                    <a:pt x="3305556" y="3200400"/>
                    <a:pt x="3234817" y="3200400"/>
                  </a:cubicBezTo>
                  <a:lnTo>
                    <a:pt x="128016" y="3200400"/>
                  </a:lnTo>
                  <a:cubicBezTo>
                    <a:pt x="57277" y="3200400"/>
                    <a:pt x="0" y="3143123"/>
                    <a:pt x="0" y="3072384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58836" y="2647188"/>
            <a:ext cx="850392" cy="850392"/>
            <a:chOff x="0" y="0"/>
            <a:chExt cx="1133856" cy="1133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6696" y="3679317"/>
            <a:ext cx="2174672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57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Forest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646856" y="2400300"/>
            <a:ext cx="2522144" cy="2400300"/>
            <a:chOff x="0" y="0"/>
            <a:chExt cx="3362858" cy="3200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62833" cy="3200400"/>
            </a:xfrm>
            <a:custGeom>
              <a:avLst/>
              <a:gdLst/>
              <a:ahLst/>
              <a:cxnLst/>
              <a:rect r="r" b="b" t="t" l="l"/>
              <a:pathLst>
                <a:path h="3200400" w="3362833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234817" y="0"/>
                  </a:lnTo>
                  <a:cubicBezTo>
                    <a:pt x="3305556" y="0"/>
                    <a:pt x="3362833" y="57277"/>
                    <a:pt x="3362833" y="128016"/>
                  </a:cubicBezTo>
                  <a:lnTo>
                    <a:pt x="3362833" y="3072384"/>
                  </a:lnTo>
                  <a:cubicBezTo>
                    <a:pt x="3362833" y="3143123"/>
                    <a:pt x="3305556" y="3200400"/>
                    <a:pt x="3234817" y="3200400"/>
                  </a:cubicBezTo>
                  <a:lnTo>
                    <a:pt x="128016" y="3200400"/>
                  </a:lnTo>
                  <a:cubicBezTo>
                    <a:pt x="57277" y="3200400"/>
                    <a:pt x="0" y="3143123"/>
                    <a:pt x="0" y="3072384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482732" y="2647188"/>
            <a:ext cx="850392" cy="850392"/>
            <a:chOff x="0" y="0"/>
            <a:chExt cx="1133856" cy="11338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A98B5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820592" y="3679317"/>
            <a:ext cx="2174672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57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Shrubland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70752" y="2400300"/>
            <a:ext cx="2522144" cy="2400300"/>
            <a:chOff x="0" y="0"/>
            <a:chExt cx="3362858" cy="3200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62833" cy="3200400"/>
            </a:xfrm>
            <a:custGeom>
              <a:avLst/>
              <a:gdLst/>
              <a:ahLst/>
              <a:cxnLst/>
              <a:rect r="r" b="b" t="t" l="l"/>
              <a:pathLst>
                <a:path h="3200400" w="3362833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234817" y="0"/>
                  </a:lnTo>
                  <a:cubicBezTo>
                    <a:pt x="3305556" y="0"/>
                    <a:pt x="3362833" y="57277"/>
                    <a:pt x="3362833" y="128016"/>
                  </a:cubicBezTo>
                  <a:lnTo>
                    <a:pt x="3362833" y="3072384"/>
                  </a:lnTo>
                  <a:cubicBezTo>
                    <a:pt x="3362833" y="3143123"/>
                    <a:pt x="3305556" y="3200400"/>
                    <a:pt x="3234817" y="3200400"/>
                  </a:cubicBezTo>
                  <a:lnTo>
                    <a:pt x="128016" y="3200400"/>
                  </a:lnTo>
                  <a:cubicBezTo>
                    <a:pt x="57277" y="3200400"/>
                    <a:pt x="0" y="3143123"/>
                    <a:pt x="0" y="3072384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06628" y="2647188"/>
            <a:ext cx="850392" cy="850392"/>
            <a:chOff x="0" y="0"/>
            <a:chExt cx="1133856" cy="11338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D4A72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644488" y="3679317"/>
            <a:ext cx="2174672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57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Savanna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94647" y="2400300"/>
            <a:ext cx="2522144" cy="2400300"/>
            <a:chOff x="0" y="0"/>
            <a:chExt cx="3362858" cy="3200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62833" cy="3200400"/>
            </a:xfrm>
            <a:custGeom>
              <a:avLst/>
              <a:gdLst/>
              <a:ahLst/>
              <a:cxnLst/>
              <a:rect r="r" b="b" t="t" l="l"/>
              <a:pathLst>
                <a:path h="3200400" w="3362833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234817" y="0"/>
                  </a:lnTo>
                  <a:cubicBezTo>
                    <a:pt x="3305556" y="0"/>
                    <a:pt x="3362833" y="57277"/>
                    <a:pt x="3362833" y="128016"/>
                  </a:cubicBezTo>
                  <a:lnTo>
                    <a:pt x="3362833" y="3072384"/>
                  </a:lnTo>
                  <a:cubicBezTo>
                    <a:pt x="3362833" y="3143123"/>
                    <a:pt x="3305556" y="3200400"/>
                    <a:pt x="3234817" y="3200400"/>
                  </a:cubicBezTo>
                  <a:lnTo>
                    <a:pt x="128016" y="3200400"/>
                  </a:lnTo>
                  <a:cubicBezTo>
                    <a:pt x="57277" y="3200400"/>
                    <a:pt x="0" y="3143123"/>
                    <a:pt x="0" y="3072384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130523" y="2647188"/>
            <a:ext cx="850392" cy="850392"/>
            <a:chOff x="0" y="0"/>
            <a:chExt cx="1133856" cy="11338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C9B37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468383" y="3679317"/>
            <a:ext cx="2174672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57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Grassland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118543" y="2400300"/>
            <a:ext cx="2522144" cy="2400300"/>
            <a:chOff x="0" y="0"/>
            <a:chExt cx="3362858" cy="3200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62833" cy="3200400"/>
            </a:xfrm>
            <a:custGeom>
              <a:avLst/>
              <a:gdLst/>
              <a:ahLst/>
              <a:cxnLst/>
              <a:rect r="r" b="b" t="t" l="l"/>
              <a:pathLst>
                <a:path h="3200400" w="3362833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234817" y="0"/>
                  </a:lnTo>
                  <a:cubicBezTo>
                    <a:pt x="3305556" y="0"/>
                    <a:pt x="3362833" y="57277"/>
                    <a:pt x="3362833" y="128016"/>
                  </a:cubicBezTo>
                  <a:lnTo>
                    <a:pt x="3362833" y="3072384"/>
                  </a:lnTo>
                  <a:cubicBezTo>
                    <a:pt x="3362833" y="3143123"/>
                    <a:pt x="3305556" y="3200400"/>
                    <a:pt x="3234817" y="3200400"/>
                  </a:cubicBezTo>
                  <a:lnTo>
                    <a:pt x="128016" y="3200400"/>
                  </a:lnTo>
                  <a:cubicBezTo>
                    <a:pt x="57277" y="3200400"/>
                    <a:pt x="0" y="3143123"/>
                    <a:pt x="0" y="3072384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954419" y="2647188"/>
            <a:ext cx="850392" cy="850392"/>
            <a:chOff x="0" y="0"/>
            <a:chExt cx="1133856" cy="11338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FA8D3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292279" y="3679317"/>
            <a:ext cx="2174672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57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Wetlands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4942439" y="2400300"/>
            <a:ext cx="2522144" cy="2400300"/>
            <a:chOff x="0" y="0"/>
            <a:chExt cx="3362858" cy="3200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362833" cy="3200400"/>
            </a:xfrm>
            <a:custGeom>
              <a:avLst/>
              <a:gdLst/>
              <a:ahLst/>
              <a:cxnLst/>
              <a:rect r="r" b="b" t="t" l="l"/>
              <a:pathLst>
                <a:path h="3200400" w="3362833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234817" y="0"/>
                  </a:lnTo>
                  <a:cubicBezTo>
                    <a:pt x="3305556" y="0"/>
                    <a:pt x="3362833" y="57277"/>
                    <a:pt x="3362833" y="128016"/>
                  </a:cubicBezTo>
                  <a:lnTo>
                    <a:pt x="3362833" y="3072384"/>
                  </a:lnTo>
                  <a:cubicBezTo>
                    <a:pt x="3362833" y="3143123"/>
                    <a:pt x="3305556" y="3200400"/>
                    <a:pt x="3234817" y="3200400"/>
                  </a:cubicBezTo>
                  <a:lnTo>
                    <a:pt x="128016" y="3200400"/>
                  </a:lnTo>
                  <a:cubicBezTo>
                    <a:pt x="57277" y="3200400"/>
                    <a:pt x="0" y="3143123"/>
                    <a:pt x="0" y="3072384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778315" y="2647188"/>
            <a:ext cx="850392" cy="850392"/>
            <a:chOff x="0" y="0"/>
            <a:chExt cx="1133856" cy="11338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08E45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5116175" y="3679317"/>
            <a:ext cx="2174672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57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Croplands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22960" y="5280660"/>
            <a:ext cx="2522144" cy="2400300"/>
            <a:chOff x="0" y="0"/>
            <a:chExt cx="3362858" cy="3200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62833" cy="3200400"/>
            </a:xfrm>
            <a:custGeom>
              <a:avLst/>
              <a:gdLst/>
              <a:ahLst/>
              <a:cxnLst/>
              <a:rect r="r" b="b" t="t" l="l"/>
              <a:pathLst>
                <a:path h="3200400" w="3362833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234817" y="0"/>
                  </a:lnTo>
                  <a:cubicBezTo>
                    <a:pt x="3305556" y="0"/>
                    <a:pt x="3362833" y="57277"/>
                    <a:pt x="3362833" y="128016"/>
                  </a:cubicBezTo>
                  <a:lnTo>
                    <a:pt x="3362833" y="3072384"/>
                  </a:lnTo>
                  <a:cubicBezTo>
                    <a:pt x="3362833" y="3143123"/>
                    <a:pt x="3305556" y="3200400"/>
                    <a:pt x="3234817" y="3200400"/>
                  </a:cubicBezTo>
                  <a:lnTo>
                    <a:pt x="128016" y="3200400"/>
                  </a:lnTo>
                  <a:cubicBezTo>
                    <a:pt x="57277" y="3200400"/>
                    <a:pt x="0" y="3143123"/>
                    <a:pt x="0" y="3072384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58836" y="5527548"/>
            <a:ext cx="850392" cy="850392"/>
            <a:chOff x="0" y="0"/>
            <a:chExt cx="1133856" cy="11338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6B7280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96696" y="6559677"/>
            <a:ext cx="2174672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57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Urban / Built-up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3646856" y="5280660"/>
            <a:ext cx="2522144" cy="2400300"/>
            <a:chOff x="0" y="0"/>
            <a:chExt cx="3362858" cy="3200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62833" cy="3200400"/>
            </a:xfrm>
            <a:custGeom>
              <a:avLst/>
              <a:gdLst/>
              <a:ahLst/>
              <a:cxnLst/>
              <a:rect r="r" b="b" t="t" l="l"/>
              <a:pathLst>
                <a:path h="3200400" w="3362833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234817" y="0"/>
                  </a:lnTo>
                  <a:cubicBezTo>
                    <a:pt x="3305556" y="0"/>
                    <a:pt x="3362833" y="57277"/>
                    <a:pt x="3362833" y="128016"/>
                  </a:cubicBezTo>
                  <a:lnTo>
                    <a:pt x="3362833" y="3072384"/>
                  </a:lnTo>
                  <a:cubicBezTo>
                    <a:pt x="3362833" y="3143123"/>
                    <a:pt x="3305556" y="3200400"/>
                    <a:pt x="3234817" y="3200400"/>
                  </a:cubicBezTo>
                  <a:lnTo>
                    <a:pt x="128016" y="3200400"/>
                  </a:lnTo>
                  <a:cubicBezTo>
                    <a:pt x="57277" y="3200400"/>
                    <a:pt x="0" y="3143123"/>
                    <a:pt x="0" y="3072384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482732" y="5527548"/>
            <a:ext cx="850392" cy="850392"/>
            <a:chOff x="0" y="0"/>
            <a:chExt cx="1133856" cy="11338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E7ECEF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3820592" y="6559677"/>
            <a:ext cx="2174672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57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Snow / Ice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6470752" y="5280660"/>
            <a:ext cx="2522144" cy="2400300"/>
            <a:chOff x="0" y="0"/>
            <a:chExt cx="3362858" cy="3200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62833" cy="3200400"/>
            </a:xfrm>
            <a:custGeom>
              <a:avLst/>
              <a:gdLst/>
              <a:ahLst/>
              <a:cxnLst/>
              <a:rect r="r" b="b" t="t" l="l"/>
              <a:pathLst>
                <a:path h="3200400" w="3362833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234817" y="0"/>
                  </a:lnTo>
                  <a:cubicBezTo>
                    <a:pt x="3305556" y="0"/>
                    <a:pt x="3362833" y="57277"/>
                    <a:pt x="3362833" y="128016"/>
                  </a:cubicBezTo>
                  <a:lnTo>
                    <a:pt x="3362833" y="3072384"/>
                  </a:lnTo>
                  <a:cubicBezTo>
                    <a:pt x="3362833" y="3143123"/>
                    <a:pt x="3305556" y="3200400"/>
                    <a:pt x="3234817" y="3200400"/>
                  </a:cubicBezTo>
                  <a:lnTo>
                    <a:pt x="128016" y="3200400"/>
                  </a:lnTo>
                  <a:cubicBezTo>
                    <a:pt x="57277" y="3200400"/>
                    <a:pt x="0" y="3143123"/>
                    <a:pt x="0" y="3072384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306628" y="5527548"/>
            <a:ext cx="850392" cy="850392"/>
            <a:chOff x="0" y="0"/>
            <a:chExt cx="1133856" cy="11338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B8B8B0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6644488" y="6559677"/>
            <a:ext cx="2174672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57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Barren / Soil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294647" y="5280660"/>
            <a:ext cx="2522144" cy="2400300"/>
            <a:chOff x="0" y="0"/>
            <a:chExt cx="3362858" cy="3200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62833" cy="3200400"/>
            </a:xfrm>
            <a:custGeom>
              <a:avLst/>
              <a:gdLst/>
              <a:ahLst/>
              <a:cxnLst/>
              <a:rect r="r" b="b" t="t" l="l"/>
              <a:pathLst>
                <a:path h="3200400" w="3362833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234817" y="0"/>
                  </a:lnTo>
                  <a:cubicBezTo>
                    <a:pt x="3305556" y="0"/>
                    <a:pt x="3362833" y="57277"/>
                    <a:pt x="3362833" y="128016"/>
                  </a:cubicBezTo>
                  <a:lnTo>
                    <a:pt x="3362833" y="3072384"/>
                  </a:lnTo>
                  <a:cubicBezTo>
                    <a:pt x="3362833" y="3143123"/>
                    <a:pt x="3305556" y="3200400"/>
                    <a:pt x="3234817" y="3200400"/>
                  </a:cubicBezTo>
                  <a:lnTo>
                    <a:pt x="128016" y="3200400"/>
                  </a:lnTo>
                  <a:cubicBezTo>
                    <a:pt x="57277" y="3200400"/>
                    <a:pt x="0" y="3143123"/>
                    <a:pt x="0" y="3072384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130523" y="5527548"/>
            <a:ext cx="850392" cy="850392"/>
            <a:chOff x="0" y="0"/>
            <a:chExt cx="1133856" cy="113385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D4E89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9468383" y="6559677"/>
            <a:ext cx="2174672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57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Water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12118543" y="5280660"/>
            <a:ext cx="2522144" cy="2400300"/>
            <a:chOff x="0" y="0"/>
            <a:chExt cx="3362858" cy="3200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362833" cy="3200400"/>
            </a:xfrm>
            <a:custGeom>
              <a:avLst/>
              <a:gdLst/>
              <a:ahLst/>
              <a:cxnLst/>
              <a:rect r="r" b="b" t="t" l="l"/>
              <a:pathLst>
                <a:path h="3200400" w="3362833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3234817" y="0"/>
                  </a:lnTo>
                  <a:cubicBezTo>
                    <a:pt x="3305556" y="0"/>
                    <a:pt x="3362833" y="57277"/>
                    <a:pt x="3362833" y="128016"/>
                  </a:cubicBezTo>
                  <a:lnTo>
                    <a:pt x="3362833" y="3072384"/>
                  </a:lnTo>
                  <a:cubicBezTo>
                    <a:pt x="3362833" y="3143123"/>
                    <a:pt x="3305556" y="3200400"/>
                    <a:pt x="3234817" y="3200400"/>
                  </a:cubicBezTo>
                  <a:lnTo>
                    <a:pt x="128016" y="3200400"/>
                  </a:lnTo>
                  <a:cubicBezTo>
                    <a:pt x="57277" y="3200400"/>
                    <a:pt x="0" y="3143123"/>
                    <a:pt x="0" y="3072384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954419" y="5527548"/>
            <a:ext cx="850392" cy="850392"/>
            <a:chOff x="0" y="0"/>
            <a:chExt cx="1133856" cy="11338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3A3A3A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2292279" y="6559677"/>
            <a:ext cx="2174672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57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Background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822960" y="7951659"/>
            <a:ext cx="66414694" cy="1992441"/>
            <a:chOff x="0" y="0"/>
            <a:chExt cx="1828800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2880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18288000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8CA0A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10m × 10m ground resolution per pixel  ·  Colors match the model’s prediction legend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B7C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2344400" cy="822960"/>
            <a:chOff x="0" y="0"/>
            <a:chExt cx="16459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459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26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System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B7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Four cohesive subsystems, engineered as one full-stack platform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324576"/>
            <a:ext cx="16610648" cy="1550480"/>
            <a:chOff x="0" y="0"/>
            <a:chExt cx="22147530" cy="20673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47530" cy="2067306"/>
            </a:xfrm>
            <a:custGeom>
              <a:avLst/>
              <a:gdLst/>
              <a:ahLst/>
              <a:cxnLst/>
              <a:rect r="r" b="b" t="t" l="l"/>
              <a:pathLst>
                <a:path h="2067306" w="22147530">
                  <a:moveTo>
                    <a:pt x="0" y="110744"/>
                  </a:moveTo>
                  <a:cubicBezTo>
                    <a:pt x="0" y="49530"/>
                    <a:pt x="49530" y="0"/>
                    <a:pt x="110744" y="0"/>
                  </a:cubicBezTo>
                  <a:lnTo>
                    <a:pt x="22036787" y="0"/>
                  </a:lnTo>
                  <a:cubicBezTo>
                    <a:pt x="22098000" y="0"/>
                    <a:pt x="22147530" y="49530"/>
                    <a:pt x="22147530" y="110744"/>
                  </a:cubicBezTo>
                  <a:lnTo>
                    <a:pt x="22147530" y="1956562"/>
                  </a:lnTo>
                  <a:cubicBezTo>
                    <a:pt x="22147530" y="2017776"/>
                    <a:pt x="22098000" y="2067306"/>
                    <a:pt x="22036787" y="2067306"/>
                  </a:cubicBezTo>
                  <a:lnTo>
                    <a:pt x="110744" y="2067306"/>
                  </a:lnTo>
                  <a:cubicBezTo>
                    <a:pt x="49530" y="2067306"/>
                    <a:pt x="0" y="2017776"/>
                    <a:pt x="0" y="195656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619756"/>
            <a:ext cx="960120" cy="960120"/>
            <a:chOff x="0" y="0"/>
            <a:chExt cx="128016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90676" y="2744572"/>
            <a:ext cx="710489" cy="710489"/>
            <a:chOff x="0" y="0"/>
            <a:chExt cx="947318" cy="947318"/>
          </a:xfrm>
        </p:grpSpPr>
        <p:sp>
          <p:nvSpPr>
            <p:cNvPr name="Freeform 13" id="13" descr="/home/claude/icons/desktop.png"/>
            <p:cNvSpPr/>
            <p:nvPr/>
          </p:nvSpPr>
          <p:spPr>
            <a:xfrm flipH="false" flipV="false" rot="0">
              <a:off x="0" y="0"/>
              <a:ext cx="947293" cy="947293"/>
            </a:xfrm>
            <a:custGeom>
              <a:avLst/>
              <a:gdLst/>
              <a:ahLst/>
              <a:cxnLst/>
              <a:rect r="r" b="b" t="t" l="l"/>
              <a:pathLst>
                <a:path h="947293" w="947293">
                  <a:moveTo>
                    <a:pt x="0" y="0"/>
                  </a:moveTo>
                  <a:lnTo>
                    <a:pt x="947293" y="0"/>
                  </a:lnTo>
                  <a:lnTo>
                    <a:pt x="947293" y="947293"/>
                  </a:lnTo>
                  <a:lnTo>
                    <a:pt x="0" y="947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537460" y="2496312"/>
            <a:ext cx="4937760" cy="548640"/>
            <a:chOff x="0" y="0"/>
            <a:chExt cx="65836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· Web GIS Dashboard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537460" y="3086100"/>
            <a:ext cx="4937760" cy="685800"/>
            <a:chOff x="0" y="0"/>
            <a:chExt cx="658368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5836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1F5E4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React 18 · TypeScript · Vite · Leaflet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80960" y="2578608"/>
            <a:ext cx="9464040" cy="1234440"/>
            <a:chOff x="0" y="0"/>
            <a:chExt cx="12618720" cy="1645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18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261872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Interactive map, AOI selector, live training telemetry, GeoTIFF results viewer.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5816" y="4052792"/>
            <a:ext cx="16610648" cy="1550480"/>
            <a:chOff x="0" y="0"/>
            <a:chExt cx="22147530" cy="20673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47530" cy="2067306"/>
            </a:xfrm>
            <a:custGeom>
              <a:avLst/>
              <a:gdLst/>
              <a:ahLst/>
              <a:cxnLst/>
              <a:rect r="r" b="b" t="t" l="l"/>
              <a:pathLst>
                <a:path h="2067306" w="22147530">
                  <a:moveTo>
                    <a:pt x="0" y="110744"/>
                  </a:moveTo>
                  <a:cubicBezTo>
                    <a:pt x="0" y="49530"/>
                    <a:pt x="49530" y="0"/>
                    <a:pt x="110744" y="0"/>
                  </a:cubicBezTo>
                  <a:lnTo>
                    <a:pt x="22036787" y="0"/>
                  </a:lnTo>
                  <a:cubicBezTo>
                    <a:pt x="22098000" y="0"/>
                    <a:pt x="22147530" y="49530"/>
                    <a:pt x="22147530" y="110744"/>
                  </a:cubicBezTo>
                  <a:lnTo>
                    <a:pt x="22147530" y="1956562"/>
                  </a:lnTo>
                  <a:cubicBezTo>
                    <a:pt x="22147530" y="2017776"/>
                    <a:pt x="22098000" y="2067306"/>
                    <a:pt x="22036787" y="2067306"/>
                  </a:cubicBezTo>
                  <a:lnTo>
                    <a:pt x="110744" y="2067306"/>
                  </a:lnTo>
                  <a:cubicBezTo>
                    <a:pt x="49530" y="2067306"/>
                    <a:pt x="0" y="2017776"/>
                    <a:pt x="0" y="1956562"/>
                  </a:cubicBezTo>
                  <a:close/>
                </a:path>
              </a:pathLst>
            </a:custGeom>
            <a:solidFill>
              <a:srgbClr val="EFF3F1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65860" y="4347972"/>
            <a:ext cx="960120" cy="960120"/>
            <a:chOff x="0" y="0"/>
            <a:chExt cx="128016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90676" y="4472788"/>
            <a:ext cx="710489" cy="710489"/>
            <a:chOff x="0" y="0"/>
            <a:chExt cx="947318" cy="947318"/>
          </a:xfrm>
        </p:grpSpPr>
        <p:sp>
          <p:nvSpPr>
            <p:cNvPr name="Freeform 28" id="28" descr="/home/claude/icons/server.png"/>
            <p:cNvSpPr/>
            <p:nvPr/>
          </p:nvSpPr>
          <p:spPr>
            <a:xfrm flipH="false" flipV="false" rot="0">
              <a:off x="0" y="0"/>
              <a:ext cx="947293" cy="947293"/>
            </a:xfrm>
            <a:custGeom>
              <a:avLst/>
              <a:gdLst/>
              <a:ahLst/>
              <a:cxnLst/>
              <a:rect r="r" b="b" t="t" l="l"/>
              <a:pathLst>
                <a:path h="947293" w="947293">
                  <a:moveTo>
                    <a:pt x="0" y="0"/>
                  </a:moveTo>
                  <a:lnTo>
                    <a:pt x="947293" y="0"/>
                  </a:lnTo>
                  <a:lnTo>
                    <a:pt x="947293" y="947293"/>
                  </a:lnTo>
                  <a:lnTo>
                    <a:pt x="0" y="947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537460" y="4224528"/>
            <a:ext cx="4937760" cy="548640"/>
            <a:chOff x="0" y="0"/>
            <a:chExt cx="658368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· REST API Server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537460" y="4814316"/>
            <a:ext cx="4937760" cy="685800"/>
            <a:chOff x="0" y="0"/>
            <a:chExt cx="658368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5836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i="true">
                  <a:solidFill>
                    <a:srgbClr val="1F5E4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FastAPI · Pydantic v2 · Uvicorn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680960" y="4306824"/>
            <a:ext cx="9464040" cy="1234440"/>
            <a:chOff x="0" y="0"/>
            <a:chExt cx="12618720" cy="1645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618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1261872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Async subprocess manager, upload verification, health checks, GeoTIFF downloads.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15816" y="5781008"/>
            <a:ext cx="16610648" cy="1550480"/>
            <a:chOff x="0" y="0"/>
            <a:chExt cx="22147530" cy="206730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147530" cy="2067306"/>
            </a:xfrm>
            <a:custGeom>
              <a:avLst/>
              <a:gdLst/>
              <a:ahLst/>
              <a:cxnLst/>
              <a:rect r="r" b="b" t="t" l="l"/>
              <a:pathLst>
                <a:path h="2067306" w="22147530">
                  <a:moveTo>
                    <a:pt x="0" y="110744"/>
                  </a:moveTo>
                  <a:cubicBezTo>
                    <a:pt x="0" y="49530"/>
                    <a:pt x="49530" y="0"/>
                    <a:pt x="110744" y="0"/>
                  </a:cubicBezTo>
                  <a:lnTo>
                    <a:pt x="22036787" y="0"/>
                  </a:lnTo>
                  <a:cubicBezTo>
                    <a:pt x="22098000" y="0"/>
                    <a:pt x="22147530" y="49530"/>
                    <a:pt x="22147530" y="110744"/>
                  </a:cubicBezTo>
                  <a:lnTo>
                    <a:pt x="22147530" y="1956562"/>
                  </a:lnTo>
                  <a:cubicBezTo>
                    <a:pt x="22147530" y="2017776"/>
                    <a:pt x="22098000" y="2067306"/>
                    <a:pt x="22036787" y="2067306"/>
                  </a:cubicBezTo>
                  <a:lnTo>
                    <a:pt x="110744" y="2067306"/>
                  </a:lnTo>
                  <a:cubicBezTo>
                    <a:pt x="49530" y="2067306"/>
                    <a:pt x="0" y="2017776"/>
                    <a:pt x="0" y="195656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65860" y="6076188"/>
            <a:ext cx="960120" cy="960120"/>
            <a:chOff x="0" y="0"/>
            <a:chExt cx="1280160" cy="1280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90676" y="6201004"/>
            <a:ext cx="710489" cy="710489"/>
            <a:chOff x="0" y="0"/>
            <a:chExt cx="947318" cy="947318"/>
          </a:xfrm>
        </p:grpSpPr>
        <p:sp>
          <p:nvSpPr>
            <p:cNvPr name="Freeform 43" id="43" descr="/home/claude/icons/brain.png"/>
            <p:cNvSpPr/>
            <p:nvPr/>
          </p:nvSpPr>
          <p:spPr>
            <a:xfrm flipH="false" flipV="false" rot="0">
              <a:off x="0" y="0"/>
              <a:ext cx="947293" cy="947293"/>
            </a:xfrm>
            <a:custGeom>
              <a:avLst/>
              <a:gdLst/>
              <a:ahLst/>
              <a:cxnLst/>
              <a:rect r="r" b="b" t="t" l="l"/>
              <a:pathLst>
                <a:path h="947293" w="947293">
                  <a:moveTo>
                    <a:pt x="0" y="0"/>
                  </a:moveTo>
                  <a:lnTo>
                    <a:pt x="947293" y="0"/>
                  </a:lnTo>
                  <a:lnTo>
                    <a:pt x="947293" y="947293"/>
                  </a:lnTo>
                  <a:lnTo>
                    <a:pt x="0" y="947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537460" y="5952744"/>
            <a:ext cx="4937760" cy="548640"/>
            <a:chOff x="0" y="0"/>
            <a:chExt cx="658368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· Deep Learning Core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537460" y="6542532"/>
            <a:ext cx="4937760" cy="685800"/>
            <a:chOff x="0" y="0"/>
            <a:chExt cx="658368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5836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i="true">
                  <a:solidFill>
                    <a:srgbClr val="1F5E4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PyTorch 2.x · SMP · TorchGeo · Kornia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680960" y="6035040"/>
            <a:ext cx="9464040" cy="1234440"/>
            <a:chOff x="0" y="0"/>
            <a:chExt cx="12618720" cy="16459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618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1261872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ResNet-34 U-Net, 16-channel weight expansion, Dice-CE loss, mixed-precision training.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15816" y="7509224"/>
            <a:ext cx="16610648" cy="1550480"/>
            <a:chOff x="0" y="0"/>
            <a:chExt cx="22147530" cy="206730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147530" cy="2067306"/>
            </a:xfrm>
            <a:custGeom>
              <a:avLst/>
              <a:gdLst/>
              <a:ahLst/>
              <a:cxnLst/>
              <a:rect r="r" b="b" t="t" l="l"/>
              <a:pathLst>
                <a:path h="2067306" w="22147530">
                  <a:moveTo>
                    <a:pt x="0" y="110744"/>
                  </a:moveTo>
                  <a:cubicBezTo>
                    <a:pt x="0" y="49530"/>
                    <a:pt x="49530" y="0"/>
                    <a:pt x="110744" y="0"/>
                  </a:cubicBezTo>
                  <a:lnTo>
                    <a:pt x="22036787" y="0"/>
                  </a:lnTo>
                  <a:cubicBezTo>
                    <a:pt x="22098000" y="0"/>
                    <a:pt x="22147530" y="49530"/>
                    <a:pt x="22147530" y="110744"/>
                  </a:cubicBezTo>
                  <a:lnTo>
                    <a:pt x="22147530" y="1956562"/>
                  </a:lnTo>
                  <a:cubicBezTo>
                    <a:pt x="22147530" y="2017776"/>
                    <a:pt x="22098000" y="2067306"/>
                    <a:pt x="22036787" y="2067306"/>
                  </a:cubicBezTo>
                  <a:lnTo>
                    <a:pt x="110744" y="2067306"/>
                  </a:lnTo>
                  <a:cubicBezTo>
                    <a:pt x="49530" y="2067306"/>
                    <a:pt x="0" y="2017776"/>
                    <a:pt x="0" y="1956562"/>
                  </a:cubicBezTo>
                  <a:close/>
                </a:path>
              </a:pathLst>
            </a:custGeom>
            <a:solidFill>
              <a:srgbClr val="EFF3F1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65860" y="7804404"/>
            <a:ext cx="960120" cy="960120"/>
            <a:chOff x="0" y="0"/>
            <a:chExt cx="1280160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90676" y="7929220"/>
            <a:ext cx="710489" cy="710489"/>
            <a:chOff x="0" y="0"/>
            <a:chExt cx="947318" cy="947318"/>
          </a:xfrm>
        </p:grpSpPr>
        <p:sp>
          <p:nvSpPr>
            <p:cNvPr name="Freeform 58" id="58" descr="/home/claude/icons/bolt.png"/>
            <p:cNvSpPr/>
            <p:nvPr/>
          </p:nvSpPr>
          <p:spPr>
            <a:xfrm flipH="false" flipV="false" rot="0">
              <a:off x="0" y="0"/>
              <a:ext cx="947293" cy="947293"/>
            </a:xfrm>
            <a:custGeom>
              <a:avLst/>
              <a:gdLst/>
              <a:ahLst/>
              <a:cxnLst/>
              <a:rect r="r" b="b" t="t" l="l"/>
              <a:pathLst>
                <a:path h="947293" w="947293">
                  <a:moveTo>
                    <a:pt x="0" y="0"/>
                  </a:moveTo>
                  <a:lnTo>
                    <a:pt x="947293" y="0"/>
                  </a:lnTo>
                  <a:lnTo>
                    <a:pt x="947293" y="947293"/>
                  </a:lnTo>
                  <a:lnTo>
                    <a:pt x="0" y="947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" b="-2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537460" y="7680960"/>
            <a:ext cx="4937760" cy="548640"/>
            <a:chOff x="0" y="0"/>
            <a:chExt cx="658368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5836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· High-Speed C++ Engine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537460" y="8270748"/>
            <a:ext cx="4937760" cy="685800"/>
            <a:chOff x="0" y="0"/>
            <a:chExt cx="6583680" cy="914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83680" cy="914400"/>
            </a:xfrm>
            <a:custGeom>
              <a:avLst/>
              <a:gdLst/>
              <a:ahLst/>
              <a:cxnLst/>
              <a:rect r="r" b="b" t="t" l="l"/>
              <a:pathLst>
                <a:path h="914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5836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i="true">
                  <a:solidFill>
                    <a:srgbClr val="1F5E4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C++17 · OpenMP · CMake · pybind11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680960" y="7763256"/>
            <a:ext cx="9464040" cy="1234440"/>
            <a:chOff x="0" y="0"/>
            <a:chExt cx="12618720" cy="16459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618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1261872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Sliding-window tiling, RAII-safe file handles, operator-overloaded band math, feather blending.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2344400" cy="822960"/>
            <a:chOff x="0" y="0"/>
            <a:chExt cx="16459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459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26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Deep Learning Pipeline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B7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From raw satellite bands to a segmented map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941796"/>
            <a:ext cx="2551748" cy="2894648"/>
            <a:chOff x="0" y="0"/>
            <a:chExt cx="3402330" cy="3859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02330" cy="3859530"/>
            </a:xfrm>
            <a:custGeom>
              <a:avLst/>
              <a:gdLst/>
              <a:ahLst/>
              <a:cxnLst/>
              <a:rect r="r" b="b" t="t" l="l"/>
              <a:pathLst>
                <a:path h="3859530" w="340233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3255264" y="0"/>
                  </a:lnTo>
                  <a:cubicBezTo>
                    <a:pt x="3336544" y="0"/>
                    <a:pt x="3402330" y="65913"/>
                    <a:pt x="3402330" y="147066"/>
                  </a:cubicBezTo>
                  <a:lnTo>
                    <a:pt x="3402330" y="3712464"/>
                  </a:lnTo>
                  <a:cubicBezTo>
                    <a:pt x="3402330" y="3793744"/>
                    <a:pt x="3336417" y="3859530"/>
                    <a:pt x="3255264" y="3859530"/>
                  </a:cubicBezTo>
                  <a:lnTo>
                    <a:pt x="147066" y="3859530"/>
                  </a:lnTo>
                  <a:cubicBezTo>
                    <a:pt x="65913" y="3859530"/>
                    <a:pt x="0" y="3793617"/>
                    <a:pt x="0" y="37124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80210" y="3250692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87195" y="3357677"/>
            <a:ext cx="608990" cy="608990"/>
            <a:chOff x="0" y="0"/>
            <a:chExt cx="811987" cy="811987"/>
          </a:xfrm>
        </p:grpSpPr>
        <p:sp>
          <p:nvSpPr>
            <p:cNvPr name="Freeform 13" id="13" descr="/home/claude/icons/database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6" b="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4251960"/>
            <a:ext cx="2263140" cy="754380"/>
            <a:chOff x="0" y="0"/>
            <a:chExt cx="301752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30175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 13 bands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5006340"/>
            <a:ext cx="2263140" cy="754380"/>
            <a:chOff x="0" y="0"/>
            <a:chExt cx="301752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0175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SEN12MS multispectral dataset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23796" y="4210812"/>
            <a:ext cx="356616" cy="356616"/>
            <a:chOff x="0" y="0"/>
            <a:chExt cx="475488" cy="475488"/>
          </a:xfrm>
        </p:grpSpPr>
        <p:sp>
          <p:nvSpPr>
            <p:cNvPr name="Freeform 21" id="21" descr="/home/claude/icons/arrowRight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636645" y="2941796"/>
            <a:ext cx="2551748" cy="2894648"/>
            <a:chOff x="0" y="0"/>
            <a:chExt cx="3402330" cy="38595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02330" cy="3859530"/>
            </a:xfrm>
            <a:custGeom>
              <a:avLst/>
              <a:gdLst/>
              <a:ahLst/>
              <a:cxnLst/>
              <a:rect r="r" b="b" t="t" l="l"/>
              <a:pathLst>
                <a:path h="3859530" w="340233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3255264" y="0"/>
                  </a:lnTo>
                  <a:cubicBezTo>
                    <a:pt x="3336544" y="0"/>
                    <a:pt x="3402330" y="65913"/>
                    <a:pt x="3402330" y="147066"/>
                  </a:cubicBezTo>
                  <a:lnTo>
                    <a:pt x="3402330" y="3712464"/>
                  </a:lnTo>
                  <a:cubicBezTo>
                    <a:pt x="3402330" y="3793744"/>
                    <a:pt x="3336417" y="3859530"/>
                    <a:pt x="3255264" y="3859530"/>
                  </a:cubicBezTo>
                  <a:lnTo>
                    <a:pt x="147066" y="3859530"/>
                  </a:lnTo>
                  <a:cubicBezTo>
                    <a:pt x="65913" y="3859530"/>
                    <a:pt x="0" y="3793617"/>
                    <a:pt x="0" y="37124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501039" y="3250692"/>
            <a:ext cx="822960" cy="822960"/>
            <a:chOff x="0" y="0"/>
            <a:chExt cx="109728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608024" y="3357677"/>
            <a:ext cx="608990" cy="608990"/>
            <a:chOff x="0" y="0"/>
            <a:chExt cx="811987" cy="811987"/>
          </a:xfrm>
        </p:grpSpPr>
        <p:sp>
          <p:nvSpPr>
            <p:cNvPr name="Freeform 27" id="27" descr="/home/claude/icons/flask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780949" y="4251960"/>
            <a:ext cx="2263140" cy="754380"/>
            <a:chOff x="0" y="0"/>
            <a:chExt cx="301752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30175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Compute indices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780949" y="5006340"/>
            <a:ext cx="2263140" cy="754380"/>
            <a:chOff x="0" y="0"/>
            <a:chExt cx="301752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0175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NDVI · NDWI · NDBI → 16 channels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144635" y="4210812"/>
            <a:ext cx="356616" cy="356616"/>
            <a:chOff x="0" y="0"/>
            <a:chExt cx="475488" cy="475488"/>
          </a:xfrm>
        </p:grpSpPr>
        <p:sp>
          <p:nvSpPr>
            <p:cNvPr name="Freeform 35" id="35" descr="/home/claude/icons/arrowRight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457483" y="2941796"/>
            <a:ext cx="2551748" cy="2894648"/>
            <a:chOff x="0" y="0"/>
            <a:chExt cx="3402330" cy="385953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02330" cy="3859530"/>
            </a:xfrm>
            <a:custGeom>
              <a:avLst/>
              <a:gdLst/>
              <a:ahLst/>
              <a:cxnLst/>
              <a:rect r="r" b="b" t="t" l="l"/>
              <a:pathLst>
                <a:path h="3859530" w="340233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3255264" y="0"/>
                  </a:lnTo>
                  <a:cubicBezTo>
                    <a:pt x="3336544" y="0"/>
                    <a:pt x="3402330" y="65913"/>
                    <a:pt x="3402330" y="147066"/>
                  </a:cubicBezTo>
                  <a:lnTo>
                    <a:pt x="3402330" y="3712464"/>
                  </a:lnTo>
                  <a:cubicBezTo>
                    <a:pt x="3402330" y="3793744"/>
                    <a:pt x="3336417" y="3859530"/>
                    <a:pt x="3255264" y="3859530"/>
                  </a:cubicBezTo>
                  <a:lnTo>
                    <a:pt x="147066" y="3859530"/>
                  </a:lnTo>
                  <a:cubicBezTo>
                    <a:pt x="65913" y="3859530"/>
                    <a:pt x="0" y="3793617"/>
                    <a:pt x="0" y="37124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321877" y="3250692"/>
            <a:ext cx="822960" cy="822960"/>
            <a:chOff x="0" y="0"/>
            <a:chExt cx="109728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428862" y="3357677"/>
            <a:ext cx="608990" cy="608990"/>
            <a:chOff x="0" y="0"/>
            <a:chExt cx="811987" cy="811987"/>
          </a:xfrm>
        </p:grpSpPr>
        <p:sp>
          <p:nvSpPr>
            <p:cNvPr name="Freeform 41" id="41" descr="/home/claude/icons/brain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6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601787" y="4251960"/>
            <a:ext cx="2263140" cy="754380"/>
            <a:chOff x="0" y="0"/>
            <a:chExt cx="3017520" cy="1005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30175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ResNet-34 U-Net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601787" y="5006340"/>
            <a:ext cx="2263140" cy="754380"/>
            <a:chOff x="0" y="0"/>
            <a:chExt cx="301752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0175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Predicts 11 land-cover classes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965463" y="4210812"/>
            <a:ext cx="356616" cy="356616"/>
            <a:chOff x="0" y="0"/>
            <a:chExt cx="475488" cy="475488"/>
          </a:xfrm>
        </p:grpSpPr>
        <p:sp>
          <p:nvSpPr>
            <p:cNvPr name="Freeform 49" id="49" descr="/home/claude/icons/arrowRight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278312" y="2941796"/>
            <a:ext cx="2551748" cy="2894648"/>
            <a:chOff x="0" y="0"/>
            <a:chExt cx="3402330" cy="385953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402330" cy="3859530"/>
            </a:xfrm>
            <a:custGeom>
              <a:avLst/>
              <a:gdLst/>
              <a:ahLst/>
              <a:cxnLst/>
              <a:rect r="r" b="b" t="t" l="l"/>
              <a:pathLst>
                <a:path h="3859530" w="340233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3255264" y="0"/>
                  </a:lnTo>
                  <a:cubicBezTo>
                    <a:pt x="3336544" y="0"/>
                    <a:pt x="3402330" y="65913"/>
                    <a:pt x="3402330" y="147066"/>
                  </a:cubicBezTo>
                  <a:lnTo>
                    <a:pt x="3402330" y="3712464"/>
                  </a:lnTo>
                  <a:cubicBezTo>
                    <a:pt x="3402330" y="3793744"/>
                    <a:pt x="3336417" y="3859530"/>
                    <a:pt x="3255264" y="3859530"/>
                  </a:cubicBezTo>
                  <a:lnTo>
                    <a:pt x="147066" y="3859530"/>
                  </a:lnTo>
                  <a:cubicBezTo>
                    <a:pt x="65913" y="3859530"/>
                    <a:pt x="0" y="3793617"/>
                    <a:pt x="0" y="37124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142706" y="3250692"/>
            <a:ext cx="822960" cy="822960"/>
            <a:chOff x="0" y="0"/>
            <a:chExt cx="1097280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249691" y="3357677"/>
            <a:ext cx="608990" cy="608990"/>
            <a:chOff x="0" y="0"/>
            <a:chExt cx="811987" cy="811987"/>
          </a:xfrm>
        </p:grpSpPr>
        <p:sp>
          <p:nvSpPr>
            <p:cNvPr name="Freeform 55" id="55" descr="/home/claude/icons/chart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6" b="6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422616" y="4251960"/>
            <a:ext cx="2263140" cy="754380"/>
            <a:chOff x="0" y="0"/>
            <a:chExt cx="3017520" cy="1005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30175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Dice + CE loss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422616" y="5006340"/>
            <a:ext cx="2263140" cy="754380"/>
            <a:chOff x="0" y="0"/>
            <a:chExt cx="301752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0175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Balances rare vs. dominant classes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786292" y="4210812"/>
            <a:ext cx="356616" cy="356616"/>
            <a:chOff x="0" y="0"/>
            <a:chExt cx="475488" cy="475488"/>
          </a:xfrm>
        </p:grpSpPr>
        <p:sp>
          <p:nvSpPr>
            <p:cNvPr name="Freeform 63" id="63" descr="/home/claude/icons/arrowRight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099150" y="2941796"/>
            <a:ext cx="2551748" cy="2894648"/>
            <a:chOff x="0" y="0"/>
            <a:chExt cx="3402330" cy="385953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02330" cy="3859530"/>
            </a:xfrm>
            <a:custGeom>
              <a:avLst/>
              <a:gdLst/>
              <a:ahLst/>
              <a:cxnLst/>
              <a:rect r="r" b="b" t="t" l="l"/>
              <a:pathLst>
                <a:path h="3859530" w="340233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3255264" y="0"/>
                  </a:lnTo>
                  <a:cubicBezTo>
                    <a:pt x="3336544" y="0"/>
                    <a:pt x="3402330" y="65913"/>
                    <a:pt x="3402330" y="147066"/>
                  </a:cubicBezTo>
                  <a:lnTo>
                    <a:pt x="3402330" y="3712464"/>
                  </a:lnTo>
                  <a:cubicBezTo>
                    <a:pt x="3402330" y="3793744"/>
                    <a:pt x="3336417" y="3859530"/>
                    <a:pt x="3255264" y="3859530"/>
                  </a:cubicBezTo>
                  <a:lnTo>
                    <a:pt x="147066" y="3859530"/>
                  </a:lnTo>
                  <a:cubicBezTo>
                    <a:pt x="65913" y="3859530"/>
                    <a:pt x="0" y="3793617"/>
                    <a:pt x="0" y="37124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2963544" y="3250692"/>
            <a:ext cx="822960" cy="822960"/>
            <a:chOff x="0" y="0"/>
            <a:chExt cx="109728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070529" y="3357677"/>
            <a:ext cx="608990" cy="608990"/>
            <a:chOff x="0" y="0"/>
            <a:chExt cx="811987" cy="811987"/>
          </a:xfrm>
        </p:grpSpPr>
        <p:sp>
          <p:nvSpPr>
            <p:cNvPr name="Freeform 69" id="69" descr="/home/claude/icons/cogs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6" b="6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243454" y="4251960"/>
            <a:ext cx="2263140" cy="754380"/>
            <a:chOff x="0" y="0"/>
            <a:chExt cx="3017520" cy="1005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30175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AdamW update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243454" y="5006340"/>
            <a:ext cx="2263140" cy="754380"/>
            <a:chOff x="0" y="0"/>
            <a:chExt cx="3017520" cy="10058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0175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Optimizer refines model weights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607130" y="4210812"/>
            <a:ext cx="356616" cy="356616"/>
            <a:chOff x="0" y="0"/>
            <a:chExt cx="475488" cy="475488"/>
          </a:xfrm>
        </p:grpSpPr>
        <p:sp>
          <p:nvSpPr>
            <p:cNvPr name="Freeform 77" id="77" descr="/home/claude/icons/arrowRight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4919979" y="2941796"/>
            <a:ext cx="2551748" cy="2894648"/>
            <a:chOff x="0" y="0"/>
            <a:chExt cx="3402330" cy="385953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402330" cy="3859530"/>
            </a:xfrm>
            <a:custGeom>
              <a:avLst/>
              <a:gdLst/>
              <a:ahLst/>
              <a:cxnLst/>
              <a:rect r="r" b="b" t="t" l="l"/>
              <a:pathLst>
                <a:path h="3859530" w="3402330">
                  <a:moveTo>
                    <a:pt x="0" y="147066"/>
                  </a:moveTo>
                  <a:cubicBezTo>
                    <a:pt x="0" y="65913"/>
                    <a:pt x="65913" y="0"/>
                    <a:pt x="147066" y="0"/>
                  </a:cubicBezTo>
                  <a:lnTo>
                    <a:pt x="3255264" y="0"/>
                  </a:lnTo>
                  <a:cubicBezTo>
                    <a:pt x="3336544" y="0"/>
                    <a:pt x="3402330" y="65913"/>
                    <a:pt x="3402330" y="147066"/>
                  </a:cubicBezTo>
                  <a:lnTo>
                    <a:pt x="3402330" y="3712464"/>
                  </a:lnTo>
                  <a:cubicBezTo>
                    <a:pt x="3402330" y="3793744"/>
                    <a:pt x="3336417" y="3859530"/>
                    <a:pt x="3255264" y="3859530"/>
                  </a:cubicBezTo>
                  <a:lnTo>
                    <a:pt x="147066" y="3859530"/>
                  </a:lnTo>
                  <a:cubicBezTo>
                    <a:pt x="65913" y="3859530"/>
                    <a:pt x="0" y="3793617"/>
                    <a:pt x="0" y="37124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5784373" y="3250692"/>
            <a:ext cx="822960" cy="822960"/>
            <a:chOff x="0" y="0"/>
            <a:chExt cx="1097280" cy="10972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5891358" y="3357677"/>
            <a:ext cx="608990" cy="608990"/>
            <a:chOff x="0" y="0"/>
            <a:chExt cx="811987" cy="811987"/>
          </a:xfrm>
        </p:grpSpPr>
        <p:sp>
          <p:nvSpPr>
            <p:cNvPr name="Freeform 83" id="83" descr="/home/claude/icons/check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6" b="6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5064283" y="4251960"/>
            <a:ext cx="2263140" cy="754380"/>
            <a:chOff x="0" y="0"/>
            <a:chExt cx="3017520" cy="10058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30175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73"/>
                </a:lnSpc>
              </a:pPr>
              <a:r>
                <a:rPr lang="en-US" sz="1725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checkpoint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5064283" y="5006340"/>
            <a:ext cx="2263140" cy="754380"/>
            <a:chOff x="0" y="0"/>
            <a:chExt cx="3017520" cy="10058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0175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30175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best_model.pth saved (294 MB)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822960" y="6515100"/>
            <a:ext cx="16596360" cy="2125980"/>
            <a:chOff x="0" y="0"/>
            <a:chExt cx="22128480" cy="28346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21284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2688336"/>
                  </a:lnTo>
                  <a:cubicBezTo>
                    <a:pt x="22128480" y="2769108"/>
                    <a:pt x="22062948" y="2834640"/>
                    <a:pt x="2198217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71600" y="6789420"/>
            <a:ext cx="4800600" cy="480060"/>
            <a:chOff x="0" y="0"/>
            <a:chExt cx="6400800" cy="6400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6400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Where training runs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71600" y="7296912"/>
            <a:ext cx="15499080" cy="1234440"/>
            <a:chOff x="0" y="0"/>
            <a:chExt cx="20665440" cy="16459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06654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645" r="0" b="-19464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0"/>
              <a:ext cx="20665440" cy="1741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D6E0E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Training runs locally on GPU/CPU through src/train.py. When "Start Training" is triggered from the UI, the FastAPI backend launches it as a background process and streams live progress back to the dashboard.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3716000" cy="822960"/>
            <a:chOff x="0" y="0"/>
            <a:chExt cx="182880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26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Science: Spectral Indices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4401800" cy="548640"/>
            <a:chOff x="0" y="0"/>
            <a:chExt cx="192024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20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B7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Three physics-based formulas turned into extra input channels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598896"/>
            <a:ext cx="5294947" cy="4609147"/>
            <a:chOff x="0" y="0"/>
            <a:chExt cx="7059930" cy="6145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59930" cy="6145530"/>
            </a:xfrm>
            <a:custGeom>
              <a:avLst/>
              <a:gdLst/>
              <a:ahLst/>
              <a:cxnLst/>
              <a:rect r="r" b="b" t="t" l="l"/>
              <a:pathLst>
                <a:path h="6145530" w="705993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6913118" y="0"/>
                  </a:lnTo>
                  <a:cubicBezTo>
                    <a:pt x="6994144" y="0"/>
                    <a:pt x="7059930" y="65659"/>
                    <a:pt x="7059930" y="146812"/>
                  </a:cubicBezTo>
                  <a:lnTo>
                    <a:pt x="7059930" y="5998718"/>
                  </a:lnTo>
                  <a:cubicBezTo>
                    <a:pt x="7059930" y="6079744"/>
                    <a:pt x="6994272" y="6145530"/>
                    <a:pt x="6913118" y="6145530"/>
                  </a:cubicBezTo>
                  <a:lnTo>
                    <a:pt x="146812" y="6145530"/>
                  </a:lnTo>
                  <a:cubicBezTo>
                    <a:pt x="65659" y="6145530"/>
                    <a:pt x="0" y="6079871"/>
                    <a:pt x="0" y="59987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017520"/>
            <a:ext cx="891540" cy="891540"/>
            <a:chOff x="0" y="0"/>
            <a:chExt cx="1188720" cy="1188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50340" y="3133420"/>
            <a:ext cx="659740" cy="659740"/>
            <a:chOff x="0" y="0"/>
            <a:chExt cx="879653" cy="879653"/>
          </a:xfrm>
        </p:grpSpPr>
        <p:sp>
          <p:nvSpPr>
            <p:cNvPr name="Freeform 13" id="13" descr="/home/claude/icons/seedling.png"/>
            <p:cNvSpPr/>
            <p:nvPr/>
          </p:nvSpPr>
          <p:spPr>
            <a:xfrm flipH="false" flipV="false" rot="0">
              <a:off x="0" y="0"/>
              <a:ext cx="879602" cy="879602"/>
            </a:xfrm>
            <a:custGeom>
              <a:avLst/>
              <a:gdLst/>
              <a:ahLst/>
              <a:cxnLst/>
              <a:rect r="r" b="b" t="t" l="l"/>
              <a:pathLst>
                <a:path h="879602" w="879602">
                  <a:moveTo>
                    <a:pt x="0" y="0"/>
                  </a:moveTo>
                  <a:lnTo>
                    <a:pt x="879602" y="0"/>
                  </a:lnTo>
                  <a:lnTo>
                    <a:pt x="879602" y="879602"/>
                  </a:lnTo>
                  <a:lnTo>
                    <a:pt x="0" y="87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4114800"/>
            <a:ext cx="4457700" cy="685800"/>
            <a:chOff x="0" y="0"/>
            <a:chExt cx="59436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59436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NDVI — Vegetation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4869180"/>
            <a:ext cx="4457700" cy="1028700"/>
            <a:chOff x="0" y="0"/>
            <a:chExt cx="594360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4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94360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5852160" y="0"/>
                  </a:lnTo>
                  <a:cubicBezTo>
                    <a:pt x="5902706" y="0"/>
                    <a:pt x="5943600" y="40894"/>
                    <a:pt x="5943600" y="91440"/>
                  </a:cubicBezTo>
                  <a:lnTo>
                    <a:pt x="5943600" y="1280160"/>
                  </a:lnTo>
                  <a:cubicBezTo>
                    <a:pt x="5943600" y="1330706"/>
                    <a:pt x="5902706" y="1371600"/>
                    <a:pt x="5852160" y="1371600"/>
                  </a:cubicBezTo>
                  <a:lnTo>
                    <a:pt x="91440" y="1371600"/>
                  </a:lnTo>
                  <a:cubicBezTo>
                    <a:pt x="40894" y="1371600"/>
                    <a:pt x="0" y="1330706"/>
                    <a:pt x="0" y="1280160"/>
                  </a:cubicBezTo>
                  <a:close/>
                </a:path>
              </a:pathLst>
            </a:custGeom>
            <a:solidFill>
              <a:srgbClr val="F2F5F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4869180"/>
            <a:ext cx="4183380" cy="1028700"/>
            <a:chOff x="0" y="0"/>
            <a:chExt cx="5577840" cy="1371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778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39" r="0" b="-2923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57784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7262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(B08 − B04) / (B08 + B04 + 1e-6)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4440" y="6103620"/>
            <a:ext cx="4457700" cy="960120"/>
            <a:chOff x="0" y="0"/>
            <a:chExt cx="5943600" cy="1280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3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594360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Measures plant health from Near-Infrared reflectance vs. Red absorption.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07956" y="2598896"/>
            <a:ext cx="5294947" cy="4609147"/>
            <a:chOff x="0" y="0"/>
            <a:chExt cx="7059930" cy="61455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59930" cy="6145530"/>
            </a:xfrm>
            <a:custGeom>
              <a:avLst/>
              <a:gdLst/>
              <a:ahLst/>
              <a:cxnLst/>
              <a:rect r="r" b="b" t="t" l="l"/>
              <a:pathLst>
                <a:path h="6145530" w="705993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6913118" y="0"/>
                  </a:lnTo>
                  <a:cubicBezTo>
                    <a:pt x="6994144" y="0"/>
                    <a:pt x="7059930" y="65659"/>
                    <a:pt x="7059930" y="146812"/>
                  </a:cubicBezTo>
                  <a:lnTo>
                    <a:pt x="7059930" y="5998718"/>
                  </a:lnTo>
                  <a:cubicBezTo>
                    <a:pt x="7059930" y="6079744"/>
                    <a:pt x="6994272" y="6145530"/>
                    <a:pt x="6913118" y="6145530"/>
                  </a:cubicBezTo>
                  <a:lnTo>
                    <a:pt x="146812" y="6145530"/>
                  </a:lnTo>
                  <a:cubicBezTo>
                    <a:pt x="65659" y="6145530"/>
                    <a:pt x="0" y="6079871"/>
                    <a:pt x="0" y="59987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926580" y="3017520"/>
            <a:ext cx="891540" cy="891540"/>
            <a:chOff x="0" y="0"/>
            <a:chExt cx="1188720" cy="1188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D6FA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042480" y="3133420"/>
            <a:ext cx="659740" cy="659740"/>
            <a:chOff x="0" y="0"/>
            <a:chExt cx="879653" cy="879653"/>
          </a:xfrm>
        </p:grpSpPr>
        <p:sp>
          <p:nvSpPr>
            <p:cNvPr name="Freeform 30" id="30" descr="/home/claude/icons/water.png"/>
            <p:cNvSpPr/>
            <p:nvPr/>
          </p:nvSpPr>
          <p:spPr>
            <a:xfrm flipH="false" flipV="false" rot="0">
              <a:off x="0" y="0"/>
              <a:ext cx="879602" cy="879602"/>
            </a:xfrm>
            <a:custGeom>
              <a:avLst/>
              <a:gdLst/>
              <a:ahLst/>
              <a:cxnLst/>
              <a:rect r="r" b="b" t="t" l="l"/>
              <a:pathLst>
                <a:path h="879602" w="879602">
                  <a:moveTo>
                    <a:pt x="0" y="0"/>
                  </a:moveTo>
                  <a:lnTo>
                    <a:pt x="879602" y="0"/>
                  </a:lnTo>
                  <a:lnTo>
                    <a:pt x="879602" y="879602"/>
                  </a:lnTo>
                  <a:lnTo>
                    <a:pt x="0" y="87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926580" y="4114800"/>
            <a:ext cx="4457700" cy="685800"/>
            <a:chOff x="0" y="0"/>
            <a:chExt cx="59436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59436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NDWI — Water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926580" y="4869180"/>
            <a:ext cx="4457700" cy="1028700"/>
            <a:chOff x="0" y="0"/>
            <a:chExt cx="5943600" cy="137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4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94360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5852160" y="0"/>
                  </a:lnTo>
                  <a:cubicBezTo>
                    <a:pt x="5902706" y="0"/>
                    <a:pt x="5943600" y="40894"/>
                    <a:pt x="5943600" y="91440"/>
                  </a:cubicBezTo>
                  <a:lnTo>
                    <a:pt x="5943600" y="1280160"/>
                  </a:lnTo>
                  <a:cubicBezTo>
                    <a:pt x="5943600" y="1330706"/>
                    <a:pt x="5902706" y="1371600"/>
                    <a:pt x="5852160" y="1371600"/>
                  </a:cubicBezTo>
                  <a:lnTo>
                    <a:pt x="91440" y="1371600"/>
                  </a:lnTo>
                  <a:cubicBezTo>
                    <a:pt x="40894" y="1371600"/>
                    <a:pt x="0" y="1330706"/>
                    <a:pt x="0" y="1280160"/>
                  </a:cubicBezTo>
                  <a:close/>
                </a:path>
              </a:pathLst>
            </a:custGeom>
            <a:solidFill>
              <a:srgbClr val="F2F5F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063740" y="4869180"/>
            <a:ext cx="4183380" cy="1028700"/>
            <a:chOff x="0" y="0"/>
            <a:chExt cx="5577840" cy="1371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778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39" r="0" b="-2923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557784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7262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(B03 − B08) / (B03 + B08 + 1e-6)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926580" y="6103620"/>
            <a:ext cx="4457700" cy="960120"/>
            <a:chOff x="0" y="0"/>
            <a:chExt cx="5943600" cy="12801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943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594360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Isolates open water bodies, which absorb Near-Infrared almost completely.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200096" y="2598896"/>
            <a:ext cx="5294947" cy="4609147"/>
            <a:chOff x="0" y="0"/>
            <a:chExt cx="7059930" cy="614553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59930" cy="6145530"/>
            </a:xfrm>
            <a:custGeom>
              <a:avLst/>
              <a:gdLst/>
              <a:ahLst/>
              <a:cxnLst/>
              <a:rect r="r" b="b" t="t" l="l"/>
              <a:pathLst>
                <a:path h="6145530" w="7059930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6913118" y="0"/>
                  </a:lnTo>
                  <a:cubicBezTo>
                    <a:pt x="6994144" y="0"/>
                    <a:pt x="7059930" y="65659"/>
                    <a:pt x="7059930" y="146812"/>
                  </a:cubicBezTo>
                  <a:lnTo>
                    <a:pt x="7059930" y="5998718"/>
                  </a:lnTo>
                  <a:cubicBezTo>
                    <a:pt x="7059930" y="6079744"/>
                    <a:pt x="6994272" y="6145530"/>
                    <a:pt x="6913118" y="6145530"/>
                  </a:cubicBezTo>
                  <a:lnTo>
                    <a:pt x="146812" y="6145530"/>
                  </a:lnTo>
                  <a:cubicBezTo>
                    <a:pt x="65659" y="6145530"/>
                    <a:pt x="0" y="6079871"/>
                    <a:pt x="0" y="599871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618720" y="3017520"/>
            <a:ext cx="891540" cy="891540"/>
            <a:chOff x="0" y="0"/>
            <a:chExt cx="1188720" cy="1188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8A6D3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734620" y="3133420"/>
            <a:ext cx="659740" cy="659740"/>
            <a:chOff x="0" y="0"/>
            <a:chExt cx="879653" cy="879653"/>
          </a:xfrm>
        </p:grpSpPr>
        <p:sp>
          <p:nvSpPr>
            <p:cNvPr name="Freeform 47" id="47" descr="/home/claude/icons/city.png"/>
            <p:cNvSpPr/>
            <p:nvPr/>
          </p:nvSpPr>
          <p:spPr>
            <a:xfrm flipH="false" flipV="false" rot="0">
              <a:off x="0" y="0"/>
              <a:ext cx="879602" cy="879602"/>
            </a:xfrm>
            <a:custGeom>
              <a:avLst/>
              <a:gdLst/>
              <a:ahLst/>
              <a:cxnLst/>
              <a:rect r="r" b="b" t="t" l="l"/>
              <a:pathLst>
                <a:path h="879602" w="879602">
                  <a:moveTo>
                    <a:pt x="0" y="0"/>
                  </a:moveTo>
                  <a:lnTo>
                    <a:pt x="879602" y="0"/>
                  </a:lnTo>
                  <a:lnTo>
                    <a:pt x="879602" y="879602"/>
                  </a:lnTo>
                  <a:lnTo>
                    <a:pt x="0" y="87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618720" y="4114800"/>
            <a:ext cx="4457700" cy="685800"/>
            <a:chOff x="0" y="0"/>
            <a:chExt cx="594360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59436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NDBI — Built-up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618720" y="4869180"/>
            <a:ext cx="4457700" cy="1028700"/>
            <a:chOff x="0" y="0"/>
            <a:chExt cx="5943600" cy="1371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43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94360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5852160" y="0"/>
                  </a:lnTo>
                  <a:cubicBezTo>
                    <a:pt x="5902706" y="0"/>
                    <a:pt x="5943600" y="40894"/>
                    <a:pt x="5943600" y="91440"/>
                  </a:cubicBezTo>
                  <a:lnTo>
                    <a:pt x="5943600" y="1280160"/>
                  </a:lnTo>
                  <a:cubicBezTo>
                    <a:pt x="5943600" y="1330706"/>
                    <a:pt x="5902706" y="1371600"/>
                    <a:pt x="5852160" y="1371600"/>
                  </a:cubicBezTo>
                  <a:lnTo>
                    <a:pt x="91440" y="1371600"/>
                  </a:lnTo>
                  <a:cubicBezTo>
                    <a:pt x="40894" y="1371600"/>
                    <a:pt x="0" y="1330706"/>
                    <a:pt x="0" y="1280160"/>
                  </a:cubicBezTo>
                  <a:close/>
                </a:path>
              </a:pathLst>
            </a:custGeom>
            <a:solidFill>
              <a:srgbClr val="F2F5F4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755880" y="4869180"/>
            <a:ext cx="4183380" cy="1028700"/>
            <a:chOff x="0" y="0"/>
            <a:chExt cx="5577840" cy="1371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5778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39" r="0" b="-2923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557784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17262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(B11 − B08) / (B11 + B08 + 1e-6)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618720" y="6103620"/>
            <a:ext cx="4457700" cy="960120"/>
            <a:chOff x="0" y="0"/>
            <a:chExt cx="5943600" cy="12801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943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5943600" cy="1356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Highlights concrete and asphalt using Shortwave-Infrared reflectance.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22960" y="7543800"/>
            <a:ext cx="16785156" cy="851799"/>
            <a:chOff x="0" y="0"/>
            <a:chExt cx="22128480" cy="112295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128480" cy="1122958"/>
            </a:xfrm>
            <a:custGeom>
              <a:avLst/>
              <a:gdLst/>
              <a:ahLst/>
              <a:cxnLst/>
              <a:rect r="r" b="b" t="t" l="l"/>
              <a:pathLst>
                <a:path h="1122958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122958"/>
                  </a:lnTo>
                  <a:lnTo>
                    <a:pt x="0" y="11229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3249" r="0" b="-32467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2128480" cy="1161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5B6B7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All three indices are bounded between −1.0 and +1.0, giving the network direct biophysical measurements rather than raw reflectance alone.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3716000" cy="822960"/>
            <a:chOff x="0" y="0"/>
            <a:chExt cx="182880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Adapting a Pretrained Network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4401800" cy="548640"/>
            <a:chOff x="0" y="0"/>
            <a:chExt cx="192024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920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9FB0B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Two formulas that make transfer learning work on 16 channels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8092440" cy="6720840"/>
            <a:chOff x="0" y="0"/>
            <a:chExt cx="10789920" cy="896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9920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8814816"/>
                  </a:lnTo>
                  <a:cubicBezTo>
                    <a:pt x="10789920" y="8895588"/>
                    <a:pt x="10724388" y="8961120"/>
                    <a:pt x="10643616" y="8961120"/>
                  </a:cubicBezTo>
                  <a:lnTo>
                    <a:pt x="146304" y="8961120"/>
                  </a:lnTo>
                  <a:cubicBezTo>
                    <a:pt x="65532" y="8961120"/>
                    <a:pt x="0" y="8895588"/>
                    <a:pt x="0" y="881481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3017520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10005" y="3124505"/>
            <a:ext cx="608990" cy="608990"/>
            <a:chOff x="0" y="0"/>
            <a:chExt cx="811987" cy="811987"/>
          </a:xfrm>
        </p:grpSpPr>
        <p:sp>
          <p:nvSpPr>
            <p:cNvPr name="Freeform 13" id="13" descr="/home/claude/icons/layers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6" b="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331720" y="3086100"/>
            <a:ext cx="6172200" cy="822960"/>
            <a:chOff x="0" y="0"/>
            <a:chExt cx="822960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29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229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→ 16 Channel Weight Expansion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03020" y="4183380"/>
            <a:ext cx="7132320" cy="1303020"/>
            <a:chOff x="0" y="0"/>
            <a:chExt cx="9509760" cy="1737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50976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9418320" y="0"/>
                  </a:lnTo>
                  <a:cubicBezTo>
                    <a:pt x="9468865" y="0"/>
                    <a:pt x="9509760" y="40894"/>
                    <a:pt x="9509760" y="91440"/>
                  </a:cubicBezTo>
                  <a:lnTo>
                    <a:pt x="9509760" y="1645920"/>
                  </a:lnTo>
                  <a:cubicBezTo>
                    <a:pt x="9509760" y="1696466"/>
                    <a:pt x="9468865" y="1737360"/>
                    <a:pt x="9418320" y="1737360"/>
                  </a:cubicBezTo>
                  <a:lnTo>
                    <a:pt x="91440" y="1737360"/>
                  </a:lnTo>
                  <a:cubicBezTo>
                    <a:pt x="40894" y="1737360"/>
                    <a:pt x="0" y="1696466"/>
                    <a:pt x="0" y="1645920"/>
                  </a:cubicBezTo>
                  <a:close/>
                </a:path>
              </a:pathLst>
            </a:custGeom>
            <a:solidFill>
              <a:srgbClr val="13223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08760" y="4183380"/>
            <a:ext cx="6720840" cy="1303020"/>
            <a:chOff x="0" y="0"/>
            <a:chExt cx="8961120" cy="1737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961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01" r="0" b="-5050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96112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E8A33D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W_new = ( 1/3 · Σ W_pretrained ) × ( 3 / 16 )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03020" y="5760720"/>
            <a:ext cx="7132320" cy="1165860"/>
            <a:chOff x="0" y="0"/>
            <a:chExt cx="9509760" cy="1554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097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02" r="0" b="-6920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950976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CBD6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one of the 16 input channels is initialized from the average of the 3 pretrained ImageNet RGB filters, then rescaled by 3/16.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03020" y="7132320"/>
            <a:ext cx="7132320" cy="1783080"/>
            <a:chOff x="0" y="0"/>
            <a:chExt cx="9509760" cy="2377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097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9509760" cy="2472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CBD6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3/16 scaling factor preserves activation variance across deep layers — preventing vanishing or exploding gradients so pretrained edge and texture filters remain useful.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95460" y="2537460"/>
            <a:ext cx="8092440" cy="6720840"/>
            <a:chOff x="0" y="0"/>
            <a:chExt cx="10789920" cy="8961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89920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8814816"/>
                  </a:lnTo>
                  <a:cubicBezTo>
                    <a:pt x="10789920" y="8895588"/>
                    <a:pt x="10724388" y="8961120"/>
                    <a:pt x="10643616" y="8961120"/>
                  </a:cubicBezTo>
                  <a:lnTo>
                    <a:pt x="146304" y="8961120"/>
                  </a:lnTo>
                  <a:cubicBezTo>
                    <a:pt x="65532" y="8961120"/>
                    <a:pt x="0" y="8895588"/>
                    <a:pt x="0" y="881481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75520" y="3017520"/>
            <a:ext cx="822960" cy="822960"/>
            <a:chOff x="0" y="0"/>
            <a:chExt cx="109728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982505" y="3124505"/>
            <a:ext cx="608990" cy="608990"/>
            <a:chOff x="0" y="0"/>
            <a:chExt cx="811987" cy="811987"/>
          </a:xfrm>
        </p:grpSpPr>
        <p:sp>
          <p:nvSpPr>
            <p:cNvPr name="Freeform 33" id="33" descr="/home/claude/icons/chart.png"/>
            <p:cNvSpPr/>
            <p:nvPr/>
          </p:nvSpPr>
          <p:spPr>
            <a:xfrm flipH="false" flipV="false" rot="0">
              <a:off x="0" y="0"/>
              <a:ext cx="812038" cy="812038"/>
            </a:xfrm>
            <a:custGeom>
              <a:avLst/>
              <a:gdLst/>
              <a:ahLst/>
              <a:cxnLst/>
              <a:rect r="r" b="b" t="t" l="l"/>
              <a:pathLst>
                <a:path h="812038" w="812038">
                  <a:moveTo>
                    <a:pt x="0" y="0"/>
                  </a:moveTo>
                  <a:lnTo>
                    <a:pt x="812038" y="0"/>
                  </a:lnTo>
                  <a:lnTo>
                    <a:pt x="812038" y="812038"/>
                  </a:lnTo>
                  <a:lnTo>
                    <a:pt x="0" y="81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6" b="6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904220" y="3086100"/>
            <a:ext cx="6172200" cy="822960"/>
            <a:chOff x="0" y="0"/>
            <a:chExt cx="822960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29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82296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Compound Dice + Cross-Entropy Loss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875520" y="4183380"/>
            <a:ext cx="7132320" cy="1303020"/>
            <a:chOff x="0" y="0"/>
            <a:chExt cx="9509760" cy="17373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5097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950976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9418320" y="0"/>
                  </a:lnTo>
                  <a:cubicBezTo>
                    <a:pt x="9468865" y="0"/>
                    <a:pt x="9509760" y="40894"/>
                    <a:pt x="9509760" y="91440"/>
                  </a:cubicBezTo>
                  <a:lnTo>
                    <a:pt x="9509760" y="1645920"/>
                  </a:lnTo>
                  <a:cubicBezTo>
                    <a:pt x="9509760" y="1696466"/>
                    <a:pt x="9468865" y="1737360"/>
                    <a:pt x="9418320" y="1737360"/>
                  </a:cubicBezTo>
                  <a:lnTo>
                    <a:pt x="91440" y="1737360"/>
                  </a:lnTo>
                  <a:cubicBezTo>
                    <a:pt x="40894" y="1737360"/>
                    <a:pt x="0" y="1696466"/>
                    <a:pt x="0" y="1645920"/>
                  </a:cubicBezTo>
                  <a:close/>
                </a:path>
              </a:pathLst>
            </a:custGeom>
            <a:solidFill>
              <a:srgbClr val="13223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081260" y="4183380"/>
            <a:ext cx="6720840" cy="1303020"/>
            <a:chOff x="0" y="0"/>
            <a:chExt cx="8961120" cy="17373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9611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501" r="0" b="-5050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8961120" cy="1746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6FCF9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Loss_Total = Loss_Dice + Loss_CrossEntropy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875520" y="5760720"/>
            <a:ext cx="7132320" cy="1165860"/>
            <a:chOff x="0" y="0"/>
            <a:chExt cx="9509760" cy="1554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097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02" r="0" b="-6920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950976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CBD6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Cross-Entropy provides smooth gradient descent for stable optimization across all 11 classes.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875520" y="7132320"/>
            <a:ext cx="7132320" cy="1783080"/>
            <a:chOff x="0" y="0"/>
            <a:chExt cx="9509760" cy="2377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097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0"/>
              <a:ext cx="9509760" cy="2472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2"/>
                </a:lnSpc>
              </a:pPr>
              <a:r>
                <a:rPr lang="en-US" sz="1875">
                  <a:solidFill>
                    <a:srgbClr val="CBD6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Dice Loss optimizes region overlap (IoU) directly, stopping majority classes like forest from drowning out small features like rivers or buildings.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B7C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3716000" cy="822960"/>
            <a:chOff x="0" y="0"/>
            <a:chExt cx="182880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26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C++17 Acceleration Engine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5256" y="1132461"/>
            <a:ext cx="22561488" cy="90246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B7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Seven OOP design patterns power band math and tiling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164592" cy="164592"/>
            <a:chOff x="0" y="0"/>
            <a:chExt cx="219456" cy="2194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406640" y="2606040"/>
            <a:ext cx="164592" cy="164592"/>
            <a:chOff x="0" y="0"/>
            <a:chExt cx="219456" cy="2194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3593592"/>
            <a:ext cx="164592" cy="164592"/>
            <a:chOff x="0" y="0"/>
            <a:chExt cx="219456" cy="2194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406640" y="3593592"/>
            <a:ext cx="164592" cy="164592"/>
            <a:chOff x="0" y="0"/>
            <a:chExt cx="219456" cy="2194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4581144"/>
            <a:ext cx="164592" cy="164592"/>
            <a:chOff x="0" y="0"/>
            <a:chExt cx="219456" cy="2194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406640" y="4581144"/>
            <a:ext cx="164592" cy="164592"/>
            <a:chOff x="0" y="0"/>
            <a:chExt cx="219456" cy="219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5568696"/>
            <a:ext cx="164592" cy="164592"/>
            <a:chOff x="0" y="0"/>
            <a:chExt cx="219456" cy="2194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591288" y="2098548"/>
            <a:ext cx="5266944" cy="4992624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 rot="0">
            <a:off x="13030200" y="6789420"/>
            <a:ext cx="4389120" cy="960120"/>
            <a:chOff x="0" y="0"/>
            <a:chExt cx="585216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52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74" r="0" b="-3907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585216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500" i="true">
                  <a:solidFill>
                    <a:srgbClr val="5B6B7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4.8× faster than naive Python for tiling and band-math preprocessing.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56257" y="2482596"/>
            <a:ext cx="7424703" cy="4589417"/>
            <a:chOff x="0" y="0"/>
            <a:chExt cx="1955477" cy="120873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55477" cy="1208735"/>
            </a:xfrm>
            <a:custGeom>
              <a:avLst/>
              <a:gdLst/>
              <a:ahLst/>
              <a:cxnLst/>
              <a:rect r="r" b="b" t="t" l="l"/>
              <a:pathLst>
                <a:path h="1208735" w="1955477">
                  <a:moveTo>
                    <a:pt x="0" y="0"/>
                  </a:moveTo>
                  <a:lnTo>
                    <a:pt x="1955477" y="0"/>
                  </a:lnTo>
                  <a:lnTo>
                    <a:pt x="1955477" y="1208735"/>
                  </a:lnTo>
                  <a:lnTo>
                    <a:pt x="0" y="120873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955477" cy="125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2606040"/>
            <a:ext cx="10755836" cy="6689059"/>
            <a:chOff x="0" y="0"/>
            <a:chExt cx="14341115" cy="8918745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95250"/>
              <a:ext cx="6664087" cy="18615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9"/>
                </a:lnSpc>
              </a:pPr>
              <a:r>
                <a:rPr lang="en-US" sz="2749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Polymorphism  </a:t>
              </a:r>
              <a:r>
                <a:rPr lang="en-US" sz="2749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Virtual compute() dispatch across NDVI, NDWI, NDBI classes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7677028" y="-95250"/>
              <a:ext cx="6664087" cy="18615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9"/>
                </a:lnSpc>
              </a:pPr>
              <a:r>
                <a:rPr lang="en-US" sz="2749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Abstraction &amp; Inheritance  </a:t>
              </a:r>
              <a:r>
                <a:rPr lang="en-US" sz="2749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Abstract ImageProcessor interface, concrete BandMathEngine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2693832"/>
              <a:ext cx="6664087" cy="18615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9"/>
                </a:lnSpc>
              </a:pPr>
              <a:r>
                <a:rPr lang="en-US" sz="2749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Template Method  </a:t>
              </a:r>
              <a:r>
                <a:rPr lang="en-US" sz="2749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Shared computeNormalizedDifference() base algorithm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7677028" y="2086453"/>
              <a:ext cx="6664087" cy="18615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9"/>
                </a:lnSpc>
              </a:pPr>
              <a:r>
                <a:rPr lang="en-US" sz="2749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Templates &amp; Operators  </a:t>
              </a:r>
              <a:r>
                <a:rPr lang="en-US" sz="2749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Generic Image&lt;T&gt; with overloaded +, −, ×, ÷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4875535"/>
              <a:ext cx="6664087" cy="18615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9"/>
                </a:lnSpc>
              </a:pPr>
              <a:r>
                <a:rPr lang="en-US" sz="2749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Encapsulation  </a:t>
              </a:r>
              <a:r>
                <a:rPr lang="en-US" sz="2749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Internal bandIndex_ map prevents band-order mismatch bugs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7677028" y="5482914"/>
              <a:ext cx="6664087" cy="12541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9"/>
                </a:lnSpc>
              </a:pPr>
              <a:r>
                <a:rPr lang="en-US" sz="2749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RAII  </a:t>
              </a:r>
              <a:r>
                <a:rPr lang="en-US" sz="2749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Safe heap buffers, automatic cleanup on destruction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7057238"/>
              <a:ext cx="6664087" cy="18615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29"/>
                </a:lnSpc>
              </a:pPr>
              <a:r>
                <a:rPr lang="en-US" sz="2749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Factory Pattern  </a:t>
              </a:r>
              <a:r>
                <a:rPr lang="en-US" sz="2749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createIndex(name) dynamic spectral-index instantiation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3716000" cy="822960"/>
            <a:chOff x="0" y="0"/>
            <a:chExt cx="182880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26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Seamless Large-Image Inference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B7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2D linear feather blending removes tile-border artifacts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649153" y="2591752"/>
            <a:ext cx="2360295" cy="2360295"/>
            <a:chOff x="0" y="0"/>
            <a:chExt cx="3147060" cy="31470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47060" cy="3147060"/>
            </a:xfrm>
            <a:custGeom>
              <a:avLst/>
              <a:gdLst/>
              <a:ahLst/>
              <a:cxnLst/>
              <a:rect r="r" b="b" t="t" l="l"/>
              <a:pathLst>
                <a:path h="3147060" w="3147060">
                  <a:moveTo>
                    <a:pt x="0" y="110998"/>
                  </a:moveTo>
                  <a:cubicBezTo>
                    <a:pt x="0" y="49784"/>
                    <a:pt x="49784" y="0"/>
                    <a:pt x="110998" y="0"/>
                  </a:cubicBezTo>
                  <a:lnTo>
                    <a:pt x="3036062" y="0"/>
                  </a:lnTo>
                  <a:cubicBezTo>
                    <a:pt x="3097403" y="0"/>
                    <a:pt x="3147060" y="49784"/>
                    <a:pt x="3147060" y="110998"/>
                  </a:cubicBezTo>
                  <a:lnTo>
                    <a:pt x="3147060" y="3036062"/>
                  </a:lnTo>
                  <a:cubicBezTo>
                    <a:pt x="3147060" y="3097403"/>
                    <a:pt x="3097276" y="3147060"/>
                    <a:pt x="3036062" y="3147060"/>
                  </a:cubicBezTo>
                  <a:lnTo>
                    <a:pt x="110998" y="3147060"/>
                  </a:lnTo>
                  <a:cubicBezTo>
                    <a:pt x="49657" y="3147060"/>
                    <a:pt x="0" y="3097276"/>
                    <a:pt x="0" y="3036062"/>
                  </a:cubicBezTo>
                  <a:close/>
                </a:path>
              </a:pathLst>
            </a:custGeom>
            <a:solidFill>
              <a:srgbClr val="1F5E42">
                <a:alpha val="48627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952172" y="3346133"/>
            <a:ext cx="2360295" cy="2360295"/>
            <a:chOff x="0" y="0"/>
            <a:chExt cx="3147060" cy="31470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47060" cy="3147060"/>
            </a:xfrm>
            <a:custGeom>
              <a:avLst/>
              <a:gdLst/>
              <a:ahLst/>
              <a:cxnLst/>
              <a:rect r="r" b="b" t="t" l="l"/>
              <a:pathLst>
                <a:path h="3147060" w="3147060">
                  <a:moveTo>
                    <a:pt x="0" y="110998"/>
                  </a:moveTo>
                  <a:cubicBezTo>
                    <a:pt x="0" y="49784"/>
                    <a:pt x="49784" y="0"/>
                    <a:pt x="110998" y="0"/>
                  </a:cubicBezTo>
                  <a:lnTo>
                    <a:pt x="3036062" y="0"/>
                  </a:lnTo>
                  <a:cubicBezTo>
                    <a:pt x="3097403" y="0"/>
                    <a:pt x="3147060" y="49784"/>
                    <a:pt x="3147060" y="110998"/>
                  </a:cubicBezTo>
                  <a:lnTo>
                    <a:pt x="3147060" y="3036062"/>
                  </a:lnTo>
                  <a:cubicBezTo>
                    <a:pt x="3147060" y="3097403"/>
                    <a:pt x="3097276" y="3147060"/>
                    <a:pt x="3036062" y="3147060"/>
                  </a:cubicBezTo>
                  <a:lnTo>
                    <a:pt x="110998" y="3147060"/>
                  </a:lnTo>
                  <a:cubicBezTo>
                    <a:pt x="49657" y="3147060"/>
                    <a:pt x="0" y="3097276"/>
                    <a:pt x="0" y="3036062"/>
                  </a:cubicBezTo>
                  <a:close/>
                </a:path>
              </a:pathLst>
            </a:custGeom>
            <a:solidFill>
              <a:srgbClr val="1F5E42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255193" y="2591752"/>
            <a:ext cx="2360295" cy="2360295"/>
            <a:chOff x="0" y="0"/>
            <a:chExt cx="3147060" cy="31470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47060" cy="3147060"/>
            </a:xfrm>
            <a:custGeom>
              <a:avLst/>
              <a:gdLst/>
              <a:ahLst/>
              <a:cxnLst/>
              <a:rect r="r" b="b" t="t" l="l"/>
              <a:pathLst>
                <a:path h="3147060" w="3147060">
                  <a:moveTo>
                    <a:pt x="0" y="110998"/>
                  </a:moveTo>
                  <a:cubicBezTo>
                    <a:pt x="0" y="49784"/>
                    <a:pt x="49784" y="0"/>
                    <a:pt x="110998" y="0"/>
                  </a:cubicBezTo>
                  <a:lnTo>
                    <a:pt x="3036062" y="0"/>
                  </a:lnTo>
                  <a:cubicBezTo>
                    <a:pt x="3097403" y="0"/>
                    <a:pt x="3147060" y="49784"/>
                    <a:pt x="3147060" y="110998"/>
                  </a:cubicBezTo>
                  <a:lnTo>
                    <a:pt x="3147060" y="3036062"/>
                  </a:lnTo>
                  <a:cubicBezTo>
                    <a:pt x="3147060" y="3097403"/>
                    <a:pt x="3097276" y="3147060"/>
                    <a:pt x="3036062" y="3147060"/>
                  </a:cubicBezTo>
                  <a:lnTo>
                    <a:pt x="110998" y="3147060"/>
                  </a:lnTo>
                  <a:cubicBezTo>
                    <a:pt x="49657" y="3147060"/>
                    <a:pt x="0" y="3097276"/>
                    <a:pt x="0" y="3036062"/>
                  </a:cubicBezTo>
                  <a:close/>
                </a:path>
              </a:pathLst>
            </a:custGeom>
            <a:solidFill>
              <a:srgbClr val="1F5E42">
                <a:alpha val="48627"/>
              </a:srgbClr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425194" y="6327669"/>
            <a:ext cx="8278228" cy="827823"/>
            <a:chOff x="0" y="0"/>
            <a:chExt cx="91440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1440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5B6B7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10,000 × 10,000 px image → 512×512 tiles, 32px overlap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521440" y="2537460"/>
            <a:ext cx="754380" cy="754380"/>
            <a:chOff x="0" y="0"/>
            <a:chExt cx="100584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619509" y="2635529"/>
            <a:ext cx="558241" cy="558241"/>
            <a:chOff x="0" y="0"/>
            <a:chExt cx="744322" cy="744322"/>
          </a:xfrm>
        </p:grpSpPr>
        <p:sp>
          <p:nvSpPr>
            <p:cNvPr name="Freeform 20" id="20" descr="/home/claude/icons/sitemap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481560" y="2537460"/>
            <a:ext cx="4937760" cy="480060"/>
            <a:chOff x="0" y="0"/>
            <a:chExt cx="6583680" cy="640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5836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Tile the raster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481560" y="2708910"/>
            <a:ext cx="4937760" cy="1165860"/>
            <a:chOff x="0" y="0"/>
            <a:chExt cx="6583680" cy="155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24" r="0" b="-3252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658368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0"/>
                </a:lnSpc>
              </a:pPr>
              <a:r>
                <a:rPr lang="en-US" sz="200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GeoTIFFs are cut into 512×512 windows with a 32px overlap margin between neighbors.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521440" y="4293108"/>
            <a:ext cx="754380" cy="754380"/>
            <a:chOff x="0" y="0"/>
            <a:chExt cx="100584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619509" y="4391177"/>
            <a:ext cx="558241" cy="558241"/>
            <a:chOff x="0" y="0"/>
            <a:chExt cx="744322" cy="744322"/>
          </a:xfrm>
        </p:grpSpPr>
        <p:sp>
          <p:nvSpPr>
            <p:cNvPr name="Freeform 30" id="30" descr="/home/claude/icons/chart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481560" y="4293108"/>
            <a:ext cx="4937760" cy="480060"/>
            <a:chOff x="0" y="0"/>
            <a:chExt cx="658368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5836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Weight by a 2D ramp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481560" y="4560570"/>
            <a:ext cx="4937760" cy="1165860"/>
            <a:chOff x="0" y="0"/>
            <a:chExt cx="6583680" cy="1554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24" r="0" b="-3252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658368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tile’s prediction confidence fades from 0.0 at its border to 1.0 at its center.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521440" y="6048756"/>
            <a:ext cx="754380" cy="754380"/>
            <a:chOff x="0" y="0"/>
            <a:chExt cx="10058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619509" y="6146825"/>
            <a:ext cx="558241" cy="558241"/>
            <a:chOff x="0" y="0"/>
            <a:chExt cx="744322" cy="744322"/>
          </a:xfrm>
        </p:grpSpPr>
        <p:sp>
          <p:nvSpPr>
            <p:cNvPr name="Freeform 40" id="40" descr="/home/claude/icons/check.png"/>
            <p:cNvSpPr/>
            <p:nvPr/>
          </p:nvSpPr>
          <p:spPr>
            <a:xfrm flipH="false" flipV="false" rot="0">
              <a:off x="0" y="0"/>
              <a:ext cx="744347" cy="744347"/>
            </a:xfrm>
            <a:custGeom>
              <a:avLst/>
              <a:gdLst/>
              <a:ahLst/>
              <a:cxnLst/>
              <a:rect r="r" b="b" t="t" l="l"/>
              <a:pathLst>
                <a:path h="744347" w="744347">
                  <a:moveTo>
                    <a:pt x="0" y="0"/>
                  </a:moveTo>
                  <a:lnTo>
                    <a:pt x="744347" y="0"/>
                  </a:lnTo>
                  <a:lnTo>
                    <a:pt x="744347" y="744347"/>
                  </a:lnTo>
                  <a:lnTo>
                    <a:pt x="0" y="7443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481560" y="6048756"/>
            <a:ext cx="4937760" cy="480060"/>
            <a:chOff x="0" y="0"/>
            <a:chExt cx="6583680" cy="640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83680" cy="640080"/>
            </a:xfrm>
            <a:custGeom>
              <a:avLst/>
              <a:gdLst/>
              <a:ahLst/>
              <a:cxnLst/>
              <a:rect r="r" b="b" t="t" l="l"/>
              <a:pathLst>
                <a:path h="6400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17" r="0" b="-15041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5836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Accumulate &amp; normalize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481560" y="6391656"/>
            <a:ext cx="4937760" cy="1165860"/>
            <a:chOff x="0" y="0"/>
            <a:chExt cx="658368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83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24" r="0" b="-3252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658368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Overlapping tile predictions are summed and normalized, eliminating harsh grid-seam artifacts in the final map.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" y="7475220"/>
            <a:ext cx="16596360" cy="1577340"/>
            <a:chOff x="0" y="0"/>
            <a:chExt cx="22128480" cy="2103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1284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956816"/>
                  </a:lnTo>
                  <a:cubicBezTo>
                    <a:pt x="22128480" y="2037588"/>
                    <a:pt x="22062948" y="2103120"/>
                    <a:pt x="21982176" y="2103120"/>
                  </a:cubicBezTo>
                  <a:lnTo>
                    <a:pt x="146304" y="2103120"/>
                  </a:lnTo>
                  <a:cubicBezTo>
                    <a:pt x="65532" y="2103120"/>
                    <a:pt x="0" y="2037588"/>
                    <a:pt x="0" y="1956816"/>
                  </a:cubicBezTo>
                  <a:close/>
                </a:path>
              </a:pathLst>
            </a:custGeom>
            <a:solidFill>
              <a:srgbClr val="EFF3F1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71600" y="7475220"/>
            <a:ext cx="15499080" cy="1577340"/>
            <a:chOff x="0" y="0"/>
            <a:chExt cx="20665440" cy="2103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665439" cy="2103120"/>
            </a:xfrm>
            <a:custGeom>
              <a:avLst/>
              <a:gdLst/>
              <a:ahLst/>
              <a:cxnLst/>
              <a:rect r="r" b="b" t="t" l="l"/>
              <a:pathLst>
                <a:path h="21031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461" r="0" b="-14146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0"/>
              <a:ext cx="20665440" cy="2198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 i="true">
                  <a:solidFill>
                    <a:srgbClr val="17262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Why it matters: without feather blending, adjacent tiles disagree at their shared edge, leaving visible grid lines across the final segmented GeoTIFF — a common failure mode in naive sliding-window inference.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3716000" cy="822960"/>
            <a:chOff x="0" y="0"/>
            <a:chExt cx="182880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4-Phase Progressive Training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9FB0B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Each phase de-risks the next before moving forward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743200"/>
            <a:ext cx="3909060" cy="5760720"/>
            <a:chOff x="0" y="0"/>
            <a:chExt cx="5212080" cy="7680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12080" cy="7680961"/>
            </a:xfrm>
            <a:custGeom>
              <a:avLst/>
              <a:gdLst/>
              <a:ahLst/>
              <a:cxnLst/>
              <a:rect r="r" b="b" t="t" l="l"/>
              <a:pathLst>
                <a:path h="7680961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7534656"/>
                  </a:lnTo>
                  <a:cubicBezTo>
                    <a:pt x="5212080" y="7615428"/>
                    <a:pt x="5146548" y="7680961"/>
                    <a:pt x="5065776" y="7680961"/>
                  </a:cubicBezTo>
                  <a:lnTo>
                    <a:pt x="146304" y="7680961"/>
                  </a:lnTo>
                  <a:cubicBezTo>
                    <a:pt x="65532" y="7680960"/>
                    <a:pt x="0" y="7615428"/>
                    <a:pt x="0" y="753465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3086100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3086100"/>
            <a:ext cx="822960" cy="822960"/>
            <a:chOff x="0" y="0"/>
            <a:chExt cx="109728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5860" y="4183380"/>
            <a:ext cx="3223260" cy="960120"/>
            <a:chOff x="0" y="0"/>
            <a:chExt cx="429768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97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4" r="0" b="-1541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429768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EuroSAT Baseline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5860" y="5143500"/>
            <a:ext cx="3223260" cy="2057400"/>
            <a:chOff x="0" y="0"/>
            <a:chExt cx="4297680" cy="274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976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895" t="0" r="-3189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4297680" cy="2819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B9C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Validates GPU acceleration and the 13-band dataloader end-to-end.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5860" y="7475220"/>
            <a:ext cx="3223260" cy="685800"/>
            <a:chOff x="0" y="0"/>
            <a:chExt cx="429768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97680" cy="914400"/>
            </a:xfrm>
            <a:custGeom>
              <a:avLst/>
              <a:gdLst/>
              <a:ahLst/>
              <a:cxnLst/>
              <a:rect r="r" b="b" t="t" l="l"/>
              <a:pathLst>
                <a:path h="914400" w="429768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4224528" y="0"/>
                  </a:lnTo>
                  <a:cubicBezTo>
                    <a:pt x="4264914" y="0"/>
                    <a:pt x="4297680" y="32766"/>
                    <a:pt x="4297680" y="73152"/>
                  </a:cubicBezTo>
                  <a:lnTo>
                    <a:pt x="4297680" y="841248"/>
                  </a:lnTo>
                  <a:cubicBezTo>
                    <a:pt x="4297680" y="881634"/>
                    <a:pt x="4264914" y="914400"/>
                    <a:pt x="4224528" y="914400"/>
                  </a:cubicBezTo>
                  <a:lnTo>
                    <a:pt x="73152" y="914400"/>
                  </a:lnTo>
                  <a:cubicBezTo>
                    <a:pt x="32766" y="914400"/>
                    <a:pt x="0" y="881634"/>
                    <a:pt x="0" y="841248"/>
                  </a:cubicBezTo>
                  <a:close/>
                </a:path>
              </a:pathLst>
            </a:custGeom>
            <a:solidFill>
              <a:srgbClr val="13223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03020" y="7475220"/>
            <a:ext cx="2948940" cy="685800"/>
            <a:chOff x="0" y="0"/>
            <a:chExt cx="393192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931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Target: Validation accuracy &gt; 90%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752594" y="5472684"/>
            <a:ext cx="301752" cy="301752"/>
            <a:chOff x="0" y="0"/>
            <a:chExt cx="402336" cy="402336"/>
          </a:xfrm>
        </p:grpSpPr>
        <p:sp>
          <p:nvSpPr>
            <p:cNvPr name="Freeform 27" id="27" descr="/home/claude/icons/arrowRight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074920" y="2743200"/>
            <a:ext cx="3909060" cy="5760720"/>
            <a:chOff x="0" y="0"/>
            <a:chExt cx="5212080" cy="76809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12080" cy="7680961"/>
            </a:xfrm>
            <a:custGeom>
              <a:avLst/>
              <a:gdLst/>
              <a:ahLst/>
              <a:cxnLst/>
              <a:rect r="r" b="b" t="t" l="l"/>
              <a:pathLst>
                <a:path h="7680961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7534656"/>
                  </a:lnTo>
                  <a:cubicBezTo>
                    <a:pt x="5212080" y="7615428"/>
                    <a:pt x="5146548" y="7680961"/>
                    <a:pt x="5065776" y="7680961"/>
                  </a:cubicBezTo>
                  <a:lnTo>
                    <a:pt x="146304" y="7680961"/>
                  </a:lnTo>
                  <a:cubicBezTo>
                    <a:pt x="65532" y="7680960"/>
                    <a:pt x="0" y="7615428"/>
                    <a:pt x="0" y="753465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417820" y="3086100"/>
            <a:ext cx="822960" cy="822960"/>
            <a:chOff x="0" y="0"/>
            <a:chExt cx="109728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417820" y="3086100"/>
            <a:ext cx="822960" cy="822960"/>
            <a:chOff x="0" y="0"/>
            <a:chExt cx="109728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17820" y="4183380"/>
            <a:ext cx="3223260" cy="960120"/>
            <a:chOff x="0" y="0"/>
            <a:chExt cx="4297680" cy="1280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97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4" r="0" b="-1541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429768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DeepGlobe U-Net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417820" y="5143500"/>
            <a:ext cx="3223260" cy="2057400"/>
            <a:chOff x="0" y="0"/>
            <a:chExt cx="4297680" cy="2743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976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895" t="0" r="-31895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4297680" cy="2819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B9C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Proves pixel-wise segmentation with real Dice + Cross-Entropy loss.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417820" y="7475220"/>
            <a:ext cx="3223260" cy="685800"/>
            <a:chOff x="0" y="0"/>
            <a:chExt cx="429768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297680" cy="914400"/>
            </a:xfrm>
            <a:custGeom>
              <a:avLst/>
              <a:gdLst/>
              <a:ahLst/>
              <a:cxnLst/>
              <a:rect r="r" b="b" t="t" l="l"/>
              <a:pathLst>
                <a:path h="914400" w="429768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4224528" y="0"/>
                  </a:lnTo>
                  <a:cubicBezTo>
                    <a:pt x="4264914" y="0"/>
                    <a:pt x="4297680" y="32766"/>
                    <a:pt x="4297680" y="73152"/>
                  </a:cubicBezTo>
                  <a:lnTo>
                    <a:pt x="4297680" y="841248"/>
                  </a:lnTo>
                  <a:cubicBezTo>
                    <a:pt x="4297680" y="881634"/>
                    <a:pt x="4264914" y="914400"/>
                    <a:pt x="4224528" y="914400"/>
                  </a:cubicBezTo>
                  <a:lnTo>
                    <a:pt x="73152" y="914400"/>
                  </a:lnTo>
                  <a:cubicBezTo>
                    <a:pt x="32766" y="914400"/>
                    <a:pt x="0" y="881634"/>
                    <a:pt x="0" y="841248"/>
                  </a:cubicBezTo>
                  <a:close/>
                </a:path>
              </a:pathLst>
            </a:custGeom>
            <a:solidFill>
              <a:srgbClr val="13223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554980" y="7475220"/>
            <a:ext cx="2948940" cy="685800"/>
            <a:chOff x="0" y="0"/>
            <a:chExt cx="393192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931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7-class RGB land cover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004554" y="5472684"/>
            <a:ext cx="301752" cy="301752"/>
            <a:chOff x="0" y="0"/>
            <a:chExt cx="402336" cy="402336"/>
          </a:xfrm>
        </p:grpSpPr>
        <p:sp>
          <p:nvSpPr>
            <p:cNvPr name="Freeform 47" id="47" descr="/home/claude/icons/arrowRight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326880" y="2743200"/>
            <a:ext cx="3909060" cy="5760720"/>
            <a:chOff x="0" y="0"/>
            <a:chExt cx="5212080" cy="7680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12080" cy="7680961"/>
            </a:xfrm>
            <a:custGeom>
              <a:avLst/>
              <a:gdLst/>
              <a:ahLst/>
              <a:cxnLst/>
              <a:rect r="r" b="b" t="t" l="l"/>
              <a:pathLst>
                <a:path h="7680961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7534656"/>
                  </a:lnTo>
                  <a:cubicBezTo>
                    <a:pt x="5212080" y="7615428"/>
                    <a:pt x="5146548" y="7680961"/>
                    <a:pt x="5065776" y="7680961"/>
                  </a:cubicBezTo>
                  <a:lnTo>
                    <a:pt x="146304" y="7680961"/>
                  </a:lnTo>
                  <a:cubicBezTo>
                    <a:pt x="65532" y="7680960"/>
                    <a:pt x="0" y="7615428"/>
                    <a:pt x="0" y="753465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69780" y="3086100"/>
            <a:ext cx="822960" cy="822960"/>
            <a:chOff x="0" y="0"/>
            <a:chExt cx="109728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669780" y="3086100"/>
            <a:ext cx="822960" cy="822960"/>
            <a:chOff x="0" y="0"/>
            <a:chExt cx="1097280" cy="10972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669780" y="4183380"/>
            <a:ext cx="3223260" cy="960120"/>
            <a:chOff x="0" y="0"/>
            <a:chExt cx="4297680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97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4" r="0" b="-1541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429768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Multispectral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669780" y="5143500"/>
            <a:ext cx="3223260" cy="2057400"/>
            <a:chOff x="0" y="0"/>
            <a:chExt cx="4297680" cy="2743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976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895" t="0" r="-31895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76200"/>
              <a:ext cx="4297680" cy="2819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B9C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model — 16-channel input with expanded pretrained weights.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669780" y="7475220"/>
            <a:ext cx="3223260" cy="685800"/>
            <a:chOff x="0" y="0"/>
            <a:chExt cx="4297680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297680" cy="914400"/>
            </a:xfrm>
            <a:custGeom>
              <a:avLst/>
              <a:gdLst/>
              <a:ahLst/>
              <a:cxnLst/>
              <a:rect r="r" b="b" t="t" l="l"/>
              <a:pathLst>
                <a:path h="914400" w="429768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4224528" y="0"/>
                  </a:lnTo>
                  <a:cubicBezTo>
                    <a:pt x="4264914" y="0"/>
                    <a:pt x="4297680" y="32766"/>
                    <a:pt x="4297680" y="73152"/>
                  </a:cubicBezTo>
                  <a:lnTo>
                    <a:pt x="4297680" y="841248"/>
                  </a:lnTo>
                  <a:cubicBezTo>
                    <a:pt x="4297680" y="881634"/>
                    <a:pt x="4264914" y="914400"/>
                    <a:pt x="4224528" y="914400"/>
                  </a:cubicBezTo>
                  <a:lnTo>
                    <a:pt x="73152" y="914400"/>
                  </a:lnTo>
                  <a:cubicBezTo>
                    <a:pt x="32766" y="914400"/>
                    <a:pt x="0" y="881634"/>
                    <a:pt x="0" y="841248"/>
                  </a:cubicBezTo>
                  <a:close/>
                </a:path>
              </a:pathLst>
            </a:custGeom>
            <a:solidFill>
              <a:srgbClr val="13223A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806940" y="7475220"/>
            <a:ext cx="2948940" cy="685800"/>
            <a:chOff x="0" y="0"/>
            <a:chExt cx="3931920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931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Achieved: 0.9695 mIoU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256514" y="5472684"/>
            <a:ext cx="301752" cy="301752"/>
            <a:chOff x="0" y="0"/>
            <a:chExt cx="402336" cy="402336"/>
          </a:xfrm>
        </p:grpSpPr>
        <p:sp>
          <p:nvSpPr>
            <p:cNvPr name="Freeform 67" id="67" descr="/home/claude/icons/arrowRight.png"/>
            <p:cNvSpPr/>
            <p:nvPr/>
          </p:nvSpPr>
          <p:spPr>
            <a:xfrm flipH="false" flipV="false" rot="0">
              <a:off x="0" y="0"/>
              <a:ext cx="402336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">
                  <a:moveTo>
                    <a:pt x="0" y="0"/>
                  </a:moveTo>
                  <a:lnTo>
                    <a:pt x="402336" y="0"/>
                  </a:lnTo>
                  <a:lnTo>
                    <a:pt x="402336" y="402336"/>
                  </a:lnTo>
                  <a:lnTo>
                    <a:pt x="0" y="402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578840" y="2743200"/>
            <a:ext cx="3909060" cy="5760720"/>
            <a:chOff x="0" y="0"/>
            <a:chExt cx="5212080" cy="7680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212080" cy="7680961"/>
            </a:xfrm>
            <a:custGeom>
              <a:avLst/>
              <a:gdLst/>
              <a:ahLst/>
              <a:cxnLst/>
              <a:rect r="r" b="b" t="t" l="l"/>
              <a:pathLst>
                <a:path h="7680961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7534656"/>
                  </a:lnTo>
                  <a:cubicBezTo>
                    <a:pt x="5212080" y="7615428"/>
                    <a:pt x="5146548" y="7680961"/>
                    <a:pt x="5065776" y="7680961"/>
                  </a:cubicBezTo>
                  <a:lnTo>
                    <a:pt x="146304" y="7680961"/>
                  </a:lnTo>
                  <a:cubicBezTo>
                    <a:pt x="65532" y="7680960"/>
                    <a:pt x="0" y="7615428"/>
                    <a:pt x="0" y="753465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921740" y="3086100"/>
            <a:ext cx="822960" cy="822960"/>
            <a:chOff x="0" y="0"/>
            <a:chExt cx="1097280" cy="10972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921740" y="3086100"/>
            <a:ext cx="822960" cy="822960"/>
            <a:chOff x="0" y="0"/>
            <a:chExt cx="1097280" cy="10972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10972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3921740" y="4183380"/>
            <a:ext cx="3223260" cy="960120"/>
            <a:chOff x="0" y="0"/>
            <a:chExt cx="4297680" cy="12801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297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4" r="0" b="-1541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66675"/>
              <a:ext cx="429768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 AOI Inference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921740" y="5143500"/>
            <a:ext cx="3223260" cy="2057400"/>
            <a:chOff x="0" y="0"/>
            <a:chExt cx="4297680" cy="2743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2976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895" t="0" r="-31895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76200"/>
              <a:ext cx="4297680" cy="2819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650">
                  <a:solidFill>
                    <a:srgbClr val="B9C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Sliding-window inference on any full-resolution GeoTIFF, any region.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921740" y="7475220"/>
            <a:ext cx="3223260" cy="685800"/>
            <a:chOff x="0" y="0"/>
            <a:chExt cx="4297680" cy="9144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297680" cy="914400"/>
            </a:xfrm>
            <a:custGeom>
              <a:avLst/>
              <a:gdLst/>
              <a:ahLst/>
              <a:cxnLst/>
              <a:rect r="r" b="b" t="t" l="l"/>
              <a:pathLst>
                <a:path h="914400" w="4297680">
                  <a:moveTo>
                    <a:pt x="0" y="73152"/>
                  </a:moveTo>
                  <a:cubicBezTo>
                    <a:pt x="0" y="32766"/>
                    <a:pt x="32766" y="0"/>
                    <a:pt x="73152" y="0"/>
                  </a:cubicBezTo>
                  <a:lnTo>
                    <a:pt x="4224528" y="0"/>
                  </a:lnTo>
                  <a:cubicBezTo>
                    <a:pt x="4264914" y="0"/>
                    <a:pt x="4297680" y="32766"/>
                    <a:pt x="4297680" y="73152"/>
                  </a:cubicBezTo>
                  <a:lnTo>
                    <a:pt x="4297680" y="841248"/>
                  </a:lnTo>
                  <a:cubicBezTo>
                    <a:pt x="4297680" y="881634"/>
                    <a:pt x="4264914" y="914400"/>
                    <a:pt x="4224528" y="914400"/>
                  </a:cubicBezTo>
                  <a:lnTo>
                    <a:pt x="73152" y="914400"/>
                  </a:lnTo>
                  <a:cubicBezTo>
                    <a:pt x="32766" y="914400"/>
                    <a:pt x="0" y="881634"/>
                    <a:pt x="0" y="841248"/>
                  </a:cubicBezTo>
                  <a:close/>
                </a:path>
              </a:pathLst>
            </a:custGeom>
            <a:solidFill>
              <a:srgbClr val="13223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4058900" y="7475220"/>
            <a:ext cx="2948940" cy="685800"/>
            <a:chOff x="0" y="0"/>
            <a:chExt cx="3931920" cy="914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931920" cy="914400"/>
            </a:xfrm>
            <a:custGeom>
              <a:avLst/>
              <a:gdLst/>
              <a:ahLst/>
              <a:cxnLst/>
              <a:rect r="r" b="b" t="t" l="l"/>
              <a:pathLst>
                <a:path h="914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85" r="0" b="-3378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39319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Preserves CRS &amp; geotransform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B7C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3716000" cy="822960"/>
            <a:chOff x="0" y="0"/>
            <a:chExt cx="182880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26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External Data Sources &amp; APIs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36192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B6B7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live satellite imagery reaches the platform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5816" y="2530316"/>
            <a:ext cx="8095069" cy="2236280"/>
            <a:chOff x="0" y="0"/>
            <a:chExt cx="10793425" cy="29817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3350" cy="2981706"/>
            </a:xfrm>
            <a:custGeom>
              <a:avLst/>
              <a:gdLst/>
              <a:ahLst/>
              <a:cxnLst/>
              <a:rect r="r" b="b" t="t" l="l"/>
              <a:pathLst>
                <a:path h="2981706" w="1079335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46156" y="0"/>
                  </a:lnTo>
                  <a:cubicBezTo>
                    <a:pt x="10727437" y="0"/>
                    <a:pt x="10793350" y="65913"/>
                    <a:pt x="10793350" y="147193"/>
                  </a:cubicBezTo>
                  <a:lnTo>
                    <a:pt x="10793350" y="2834513"/>
                  </a:lnTo>
                  <a:cubicBezTo>
                    <a:pt x="10793350" y="2915793"/>
                    <a:pt x="10727437" y="2981706"/>
                    <a:pt x="10646156" y="2981706"/>
                  </a:cubicBezTo>
                  <a:lnTo>
                    <a:pt x="147193" y="2981706"/>
                  </a:lnTo>
                  <a:cubicBezTo>
                    <a:pt x="65913" y="2981706"/>
                    <a:pt x="0" y="2915793"/>
                    <a:pt x="0" y="283451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948940"/>
            <a:ext cx="891540" cy="891540"/>
            <a:chOff x="0" y="0"/>
            <a:chExt cx="1188720" cy="1188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50340" y="3064840"/>
            <a:ext cx="659740" cy="659740"/>
            <a:chOff x="0" y="0"/>
            <a:chExt cx="879653" cy="879653"/>
          </a:xfrm>
        </p:grpSpPr>
        <p:sp>
          <p:nvSpPr>
            <p:cNvPr name="Freeform 13" id="13" descr="/home/claude/icons/globe.png"/>
            <p:cNvSpPr/>
            <p:nvPr/>
          </p:nvSpPr>
          <p:spPr>
            <a:xfrm flipH="false" flipV="false" rot="0">
              <a:off x="0" y="0"/>
              <a:ext cx="879602" cy="879602"/>
            </a:xfrm>
            <a:custGeom>
              <a:avLst/>
              <a:gdLst/>
              <a:ahLst/>
              <a:cxnLst/>
              <a:rect r="r" b="b" t="t" l="l"/>
              <a:pathLst>
                <a:path h="879602" w="879602">
                  <a:moveTo>
                    <a:pt x="0" y="0"/>
                  </a:moveTo>
                  <a:lnTo>
                    <a:pt x="879602" y="0"/>
                  </a:lnTo>
                  <a:lnTo>
                    <a:pt x="879602" y="879602"/>
                  </a:lnTo>
                  <a:lnTo>
                    <a:pt x="0" y="87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00300" y="2948940"/>
            <a:ext cx="6160541" cy="548640"/>
            <a:chOff x="0" y="0"/>
            <a:chExt cx="8214055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14056" cy="731520"/>
            </a:xfrm>
            <a:custGeom>
              <a:avLst/>
              <a:gdLst/>
              <a:ahLst/>
              <a:cxnLst/>
              <a:rect r="r" b="b" t="t" l="l"/>
              <a:pathLst>
                <a:path h="731520" w="8214056">
                  <a:moveTo>
                    <a:pt x="0" y="0"/>
                  </a:moveTo>
                  <a:lnTo>
                    <a:pt x="8214056" y="0"/>
                  </a:lnTo>
                  <a:lnTo>
                    <a:pt x="82140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792" r="0" b="-16879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821405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Earth Engine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00300" y="3525012"/>
            <a:ext cx="6160541" cy="1440180"/>
            <a:chOff x="0" y="0"/>
            <a:chExt cx="8214055" cy="1920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14056" cy="1920240"/>
            </a:xfrm>
            <a:custGeom>
              <a:avLst/>
              <a:gdLst/>
              <a:ahLst/>
              <a:cxnLst/>
              <a:rect r="r" b="b" t="t" l="l"/>
              <a:pathLst>
                <a:path h="1920240" w="8214056">
                  <a:moveTo>
                    <a:pt x="0" y="0"/>
                  </a:moveTo>
                  <a:lnTo>
                    <a:pt x="8214056" y="0"/>
                  </a:lnTo>
                  <a:lnTo>
                    <a:pt x="8214056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49" r="0" b="-3334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8214055" cy="201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API (earthengine-api, geemap) fetches live, cloud-free (&lt;10% cloud) Sentinel-2 composites for any drawn region.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76658" y="2530316"/>
            <a:ext cx="8095069" cy="2236280"/>
            <a:chOff x="0" y="0"/>
            <a:chExt cx="10793425" cy="29817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93350" cy="2981706"/>
            </a:xfrm>
            <a:custGeom>
              <a:avLst/>
              <a:gdLst/>
              <a:ahLst/>
              <a:cxnLst/>
              <a:rect r="r" b="b" t="t" l="l"/>
              <a:pathLst>
                <a:path h="2981706" w="1079335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46156" y="0"/>
                  </a:lnTo>
                  <a:cubicBezTo>
                    <a:pt x="10727437" y="0"/>
                    <a:pt x="10793350" y="65913"/>
                    <a:pt x="10793350" y="147193"/>
                  </a:cubicBezTo>
                  <a:lnTo>
                    <a:pt x="10793350" y="2834513"/>
                  </a:lnTo>
                  <a:cubicBezTo>
                    <a:pt x="10793350" y="2915793"/>
                    <a:pt x="10727437" y="2981706"/>
                    <a:pt x="10646156" y="2981706"/>
                  </a:cubicBezTo>
                  <a:lnTo>
                    <a:pt x="147193" y="2981706"/>
                  </a:lnTo>
                  <a:cubicBezTo>
                    <a:pt x="65913" y="2981706"/>
                    <a:pt x="0" y="2915793"/>
                    <a:pt x="0" y="283451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795281" y="2948940"/>
            <a:ext cx="891540" cy="891540"/>
            <a:chOff x="0" y="0"/>
            <a:chExt cx="1188720" cy="1188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911182" y="3064840"/>
            <a:ext cx="659740" cy="659740"/>
            <a:chOff x="0" y="0"/>
            <a:chExt cx="879653" cy="879653"/>
          </a:xfrm>
        </p:grpSpPr>
        <p:sp>
          <p:nvSpPr>
            <p:cNvPr name="Freeform 25" id="25" descr="/home/claude/icons/satellite.png"/>
            <p:cNvSpPr/>
            <p:nvPr/>
          </p:nvSpPr>
          <p:spPr>
            <a:xfrm flipH="false" flipV="false" rot="0">
              <a:off x="0" y="0"/>
              <a:ext cx="879602" cy="879602"/>
            </a:xfrm>
            <a:custGeom>
              <a:avLst/>
              <a:gdLst/>
              <a:ahLst/>
              <a:cxnLst/>
              <a:rect r="r" b="b" t="t" l="l"/>
              <a:pathLst>
                <a:path h="879602" w="879602">
                  <a:moveTo>
                    <a:pt x="0" y="0"/>
                  </a:moveTo>
                  <a:lnTo>
                    <a:pt x="879602" y="0"/>
                  </a:lnTo>
                  <a:lnTo>
                    <a:pt x="879602" y="879602"/>
                  </a:lnTo>
                  <a:lnTo>
                    <a:pt x="0" y="87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961141" y="2948940"/>
            <a:ext cx="6160541" cy="548640"/>
            <a:chOff x="0" y="0"/>
            <a:chExt cx="8214055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14056" cy="731520"/>
            </a:xfrm>
            <a:custGeom>
              <a:avLst/>
              <a:gdLst/>
              <a:ahLst/>
              <a:cxnLst/>
              <a:rect r="r" b="b" t="t" l="l"/>
              <a:pathLst>
                <a:path h="731520" w="8214056">
                  <a:moveTo>
                    <a:pt x="0" y="0"/>
                  </a:moveTo>
                  <a:lnTo>
                    <a:pt x="8214056" y="0"/>
                  </a:lnTo>
                  <a:lnTo>
                    <a:pt x="82140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792" r="0" b="-16879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21405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ESA Copernicus Hub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61141" y="3525012"/>
            <a:ext cx="6160541" cy="1440180"/>
            <a:chOff x="0" y="0"/>
            <a:chExt cx="8214055" cy="1920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14056" cy="1920240"/>
            </a:xfrm>
            <a:custGeom>
              <a:avLst/>
              <a:gdLst/>
              <a:ahLst/>
              <a:cxnLst/>
              <a:rect r="r" b="b" t="t" l="l"/>
              <a:pathLst>
                <a:path h="1920240" w="8214056">
                  <a:moveTo>
                    <a:pt x="0" y="0"/>
                  </a:moveTo>
                  <a:lnTo>
                    <a:pt x="8214056" y="0"/>
                  </a:lnTo>
                  <a:lnTo>
                    <a:pt x="8214056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49" r="0" b="-3334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0"/>
              <a:ext cx="8214055" cy="201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 of the Sentinel-2A/2B 13-band multispectral imagery used across all training phases.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15816" y="5163788"/>
            <a:ext cx="8095069" cy="2236280"/>
            <a:chOff x="0" y="0"/>
            <a:chExt cx="10793425" cy="298170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93350" cy="2981706"/>
            </a:xfrm>
            <a:custGeom>
              <a:avLst/>
              <a:gdLst/>
              <a:ahLst/>
              <a:cxnLst/>
              <a:rect r="r" b="b" t="t" l="l"/>
              <a:pathLst>
                <a:path h="2981706" w="1079335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46156" y="0"/>
                  </a:lnTo>
                  <a:cubicBezTo>
                    <a:pt x="10727437" y="0"/>
                    <a:pt x="10793350" y="65913"/>
                    <a:pt x="10793350" y="147193"/>
                  </a:cubicBezTo>
                  <a:lnTo>
                    <a:pt x="10793350" y="2834513"/>
                  </a:lnTo>
                  <a:cubicBezTo>
                    <a:pt x="10793350" y="2915793"/>
                    <a:pt x="10727437" y="2981706"/>
                    <a:pt x="10646156" y="2981706"/>
                  </a:cubicBezTo>
                  <a:lnTo>
                    <a:pt x="147193" y="2981706"/>
                  </a:lnTo>
                  <a:cubicBezTo>
                    <a:pt x="65913" y="2981706"/>
                    <a:pt x="0" y="2915793"/>
                    <a:pt x="0" y="283451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34440" y="5582412"/>
            <a:ext cx="891540" cy="891540"/>
            <a:chOff x="0" y="0"/>
            <a:chExt cx="1188720" cy="1188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50340" y="5698312"/>
            <a:ext cx="659740" cy="659740"/>
            <a:chOff x="0" y="0"/>
            <a:chExt cx="879653" cy="879653"/>
          </a:xfrm>
        </p:grpSpPr>
        <p:sp>
          <p:nvSpPr>
            <p:cNvPr name="Freeform 37" id="37" descr="/home/claude/icons/database.png"/>
            <p:cNvSpPr/>
            <p:nvPr/>
          </p:nvSpPr>
          <p:spPr>
            <a:xfrm flipH="false" flipV="false" rot="0">
              <a:off x="0" y="0"/>
              <a:ext cx="879602" cy="879602"/>
            </a:xfrm>
            <a:custGeom>
              <a:avLst/>
              <a:gdLst/>
              <a:ahLst/>
              <a:cxnLst/>
              <a:rect r="r" b="b" t="t" l="l"/>
              <a:pathLst>
                <a:path h="879602" w="879602">
                  <a:moveTo>
                    <a:pt x="0" y="0"/>
                  </a:moveTo>
                  <a:lnTo>
                    <a:pt x="879602" y="0"/>
                  </a:lnTo>
                  <a:lnTo>
                    <a:pt x="879602" y="879602"/>
                  </a:lnTo>
                  <a:lnTo>
                    <a:pt x="0" y="87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400300" y="5582412"/>
            <a:ext cx="6160541" cy="548640"/>
            <a:chOff x="0" y="0"/>
            <a:chExt cx="8214055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14056" cy="731520"/>
            </a:xfrm>
            <a:custGeom>
              <a:avLst/>
              <a:gdLst/>
              <a:ahLst/>
              <a:cxnLst/>
              <a:rect r="r" b="b" t="t" l="l"/>
              <a:pathLst>
                <a:path h="731520" w="8214056">
                  <a:moveTo>
                    <a:pt x="0" y="0"/>
                  </a:moveTo>
                  <a:lnTo>
                    <a:pt x="8214056" y="0"/>
                  </a:lnTo>
                  <a:lnTo>
                    <a:pt x="82140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792" r="0" b="-16879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821405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TorchGeo API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400300" y="6158484"/>
            <a:ext cx="6160541" cy="1440180"/>
            <a:chOff x="0" y="0"/>
            <a:chExt cx="8214055" cy="19202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14056" cy="1920240"/>
            </a:xfrm>
            <a:custGeom>
              <a:avLst/>
              <a:gdLst/>
              <a:ahLst/>
              <a:cxnLst/>
              <a:rect r="r" b="b" t="t" l="l"/>
              <a:pathLst>
                <a:path h="1920240" w="8214056">
                  <a:moveTo>
                    <a:pt x="0" y="0"/>
                  </a:moveTo>
                  <a:lnTo>
                    <a:pt x="8214056" y="0"/>
                  </a:lnTo>
                  <a:lnTo>
                    <a:pt x="8214056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49" r="0" b="-3334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0"/>
              <a:ext cx="8214055" cy="201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Geospatial PyTorch dataset loaders (torchgeo.datasets) standardize raster ingestion for training.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76658" y="5163788"/>
            <a:ext cx="8095069" cy="2236280"/>
            <a:chOff x="0" y="0"/>
            <a:chExt cx="10793425" cy="298170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793350" cy="2981706"/>
            </a:xfrm>
            <a:custGeom>
              <a:avLst/>
              <a:gdLst/>
              <a:ahLst/>
              <a:cxnLst/>
              <a:rect r="r" b="b" t="t" l="l"/>
              <a:pathLst>
                <a:path h="2981706" w="1079335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646156" y="0"/>
                  </a:lnTo>
                  <a:cubicBezTo>
                    <a:pt x="10727437" y="0"/>
                    <a:pt x="10793350" y="65913"/>
                    <a:pt x="10793350" y="147193"/>
                  </a:cubicBezTo>
                  <a:lnTo>
                    <a:pt x="10793350" y="2834513"/>
                  </a:lnTo>
                  <a:cubicBezTo>
                    <a:pt x="10793350" y="2915793"/>
                    <a:pt x="10727437" y="2981706"/>
                    <a:pt x="10646156" y="2981706"/>
                  </a:cubicBezTo>
                  <a:lnTo>
                    <a:pt x="147193" y="2981706"/>
                  </a:lnTo>
                  <a:cubicBezTo>
                    <a:pt x="65913" y="2981706"/>
                    <a:pt x="0" y="2915793"/>
                    <a:pt x="0" y="283451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795281" y="5582412"/>
            <a:ext cx="891540" cy="891540"/>
            <a:chOff x="0" y="0"/>
            <a:chExt cx="1188720" cy="11887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911182" y="5698312"/>
            <a:ext cx="659740" cy="659740"/>
            <a:chOff x="0" y="0"/>
            <a:chExt cx="879653" cy="879653"/>
          </a:xfrm>
        </p:grpSpPr>
        <p:sp>
          <p:nvSpPr>
            <p:cNvPr name="Freeform 49" id="49" descr="/home/claude/icons/map.png"/>
            <p:cNvSpPr/>
            <p:nvPr/>
          </p:nvSpPr>
          <p:spPr>
            <a:xfrm flipH="false" flipV="false" rot="0">
              <a:off x="0" y="0"/>
              <a:ext cx="879602" cy="879602"/>
            </a:xfrm>
            <a:custGeom>
              <a:avLst/>
              <a:gdLst/>
              <a:ahLst/>
              <a:cxnLst/>
              <a:rect r="r" b="b" t="t" l="l"/>
              <a:pathLst>
                <a:path h="879602" w="879602">
                  <a:moveTo>
                    <a:pt x="0" y="0"/>
                  </a:moveTo>
                  <a:lnTo>
                    <a:pt x="879602" y="0"/>
                  </a:lnTo>
                  <a:lnTo>
                    <a:pt x="879602" y="879602"/>
                  </a:lnTo>
                  <a:lnTo>
                    <a:pt x="0" y="87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5" b="-5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961141" y="5582412"/>
            <a:ext cx="6160541" cy="548640"/>
            <a:chOff x="0" y="0"/>
            <a:chExt cx="8214055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214056" cy="731520"/>
            </a:xfrm>
            <a:custGeom>
              <a:avLst/>
              <a:gdLst/>
              <a:ahLst/>
              <a:cxnLst/>
              <a:rect r="r" b="b" t="t" l="l"/>
              <a:pathLst>
                <a:path h="731520" w="8214056">
                  <a:moveTo>
                    <a:pt x="0" y="0"/>
                  </a:moveTo>
                  <a:lnTo>
                    <a:pt x="8214056" y="0"/>
                  </a:lnTo>
                  <a:lnTo>
                    <a:pt x="82140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792" r="0" b="-16879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214055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ISRO Bhuvan &amp; Esri Imagery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961141" y="6158484"/>
            <a:ext cx="6160541" cy="1440180"/>
            <a:chOff x="0" y="0"/>
            <a:chExt cx="8214055" cy="19202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214056" cy="1920240"/>
            </a:xfrm>
            <a:custGeom>
              <a:avLst/>
              <a:gdLst/>
              <a:ahLst/>
              <a:cxnLst/>
              <a:rect r="r" b="b" t="t" l="l"/>
              <a:pathLst>
                <a:path h="1920240" w="8214056">
                  <a:moveTo>
                    <a:pt x="0" y="0"/>
                  </a:moveTo>
                  <a:lnTo>
                    <a:pt x="8214056" y="0"/>
                  </a:lnTo>
                  <a:lnTo>
                    <a:pt x="8214056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49" r="0" b="-3334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0"/>
              <a:ext cx="8214055" cy="201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1899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satellite basemap layers rendered on the frontend Leaflet map for area-of-interest selection.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2960" y="7886700"/>
            <a:ext cx="16596360" cy="1303020"/>
            <a:chOff x="0" y="0"/>
            <a:chExt cx="22128480" cy="1737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1284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591056"/>
                  </a:lnTo>
                  <a:cubicBezTo>
                    <a:pt x="22128480" y="1671828"/>
                    <a:pt x="22062948" y="1737360"/>
                    <a:pt x="21982176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EFF3F1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71600" y="7886700"/>
            <a:ext cx="15499080" cy="1303020"/>
            <a:chOff x="0" y="0"/>
            <a:chExt cx="20665440" cy="1737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665439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769" r="0" b="-18176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76200"/>
              <a:ext cx="20665440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 b="true">
                  <a:solidFill>
                    <a:srgbClr val="1726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Storage model:  </a:t>
              </a:r>
              <a:r>
                <a:rPr lang="en-US" sz="1725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spatial file-system registry (data/, outputs/checkpoints/, outputs/predictions/, outputs/tensorboard/) replaces a SQL database — the natural fit for large geospatial rasters and model weights.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2344400" cy="822960"/>
            <a:chOff x="0" y="0"/>
            <a:chExt cx="164592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59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64592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Results &amp; Performance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577340"/>
            <a:ext cx="13716000" cy="548640"/>
            <a:chOff x="0" y="0"/>
            <a:chExt cx="182880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9FB0B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Phase 3 — full 16-channel multispectral model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743200"/>
            <a:ext cx="3909060" cy="2606040"/>
            <a:chOff x="0" y="0"/>
            <a:chExt cx="5212080" cy="3474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120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3328416"/>
                  </a:lnTo>
                  <a:cubicBezTo>
                    <a:pt x="5212080" y="3409188"/>
                    <a:pt x="5146548" y="3474720"/>
                    <a:pt x="506577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3086100"/>
            <a:ext cx="3634740" cy="1165860"/>
            <a:chOff x="0" y="0"/>
            <a:chExt cx="4846320" cy="155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46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47" r="0" b="-1074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84632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E8A33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0.9695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0120" y="4320540"/>
            <a:ext cx="3634740" cy="754380"/>
            <a:chOff x="0" y="0"/>
            <a:chExt cx="484632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46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8463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575" spc="74">
                  <a:solidFill>
                    <a:srgbClr val="9FB0B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VALIDATION MIOU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06340" y="2743200"/>
            <a:ext cx="3909060" cy="2606040"/>
            <a:chOff x="0" y="0"/>
            <a:chExt cx="5212080" cy="34747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20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3328416"/>
                  </a:lnTo>
                  <a:cubicBezTo>
                    <a:pt x="5212080" y="3409188"/>
                    <a:pt x="5146548" y="3474720"/>
                    <a:pt x="506577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143500" y="3086100"/>
            <a:ext cx="3634740" cy="1165860"/>
            <a:chOff x="0" y="0"/>
            <a:chExt cx="4846320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46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47" r="0" b="-1074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484632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0.2476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43500" y="4320540"/>
            <a:ext cx="3634740" cy="754380"/>
            <a:chOff x="0" y="0"/>
            <a:chExt cx="484632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46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8463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575" spc="74">
                  <a:solidFill>
                    <a:srgbClr val="9FB0B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TRAINING LOSS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89720" y="2743200"/>
            <a:ext cx="3909060" cy="2606040"/>
            <a:chOff x="0" y="0"/>
            <a:chExt cx="5212080" cy="3474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20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3328416"/>
                  </a:lnTo>
                  <a:cubicBezTo>
                    <a:pt x="5212080" y="3409188"/>
                    <a:pt x="5146548" y="3474720"/>
                    <a:pt x="506577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326880" y="3086100"/>
            <a:ext cx="3634740" cy="1165860"/>
            <a:chOff x="0" y="0"/>
            <a:chExt cx="484632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46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47" r="0" b="-1074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84632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294 MB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26880" y="4320540"/>
            <a:ext cx="3634740" cy="754380"/>
            <a:chOff x="0" y="0"/>
            <a:chExt cx="484632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846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8463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575" spc="74">
                  <a:solidFill>
                    <a:srgbClr val="9FB0B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BEST CHECKPOINT SIZE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373100" y="2743200"/>
            <a:ext cx="3909060" cy="2606040"/>
            <a:chOff x="0" y="0"/>
            <a:chExt cx="5212080" cy="34747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120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52120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5065776" y="0"/>
                  </a:lnTo>
                  <a:cubicBezTo>
                    <a:pt x="5146548" y="0"/>
                    <a:pt x="5212080" y="65532"/>
                    <a:pt x="5212080" y="146304"/>
                  </a:cubicBezTo>
                  <a:lnTo>
                    <a:pt x="5212080" y="3328416"/>
                  </a:lnTo>
                  <a:cubicBezTo>
                    <a:pt x="5212080" y="3409188"/>
                    <a:pt x="5146548" y="3474720"/>
                    <a:pt x="5065776" y="3474720"/>
                  </a:cubicBezTo>
                  <a:lnTo>
                    <a:pt x="146304" y="3474720"/>
                  </a:lnTo>
                  <a:cubicBezTo>
                    <a:pt x="65532" y="3474720"/>
                    <a:pt x="0" y="3409188"/>
                    <a:pt x="0" y="3328416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510260" y="3086100"/>
            <a:ext cx="3634740" cy="1165860"/>
            <a:chOff x="0" y="0"/>
            <a:chExt cx="4846320" cy="1554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46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47" r="0" b="-1074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84632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4.8×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510260" y="4320540"/>
            <a:ext cx="3634740" cy="754380"/>
            <a:chOff x="0" y="0"/>
            <a:chExt cx="484632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46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484632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9"/>
                </a:lnSpc>
              </a:pPr>
              <a:r>
                <a:rPr lang="en-US" sz="1575" spc="74">
                  <a:solidFill>
                    <a:srgbClr val="9FB0B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C++ PREPROCESSING SPEEDUP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2114" y="5726430"/>
            <a:ext cx="10972800" cy="548640"/>
            <a:chOff x="0" y="0"/>
            <a:chExt cx="146304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46304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Guardrails that made the number trustworthy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6652260"/>
            <a:ext cx="685800" cy="685800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12114" y="6741414"/>
            <a:ext cx="507492" cy="507492"/>
            <a:chOff x="0" y="0"/>
            <a:chExt cx="676656" cy="676656"/>
          </a:xfrm>
        </p:grpSpPr>
        <p:sp>
          <p:nvSpPr>
            <p:cNvPr name="Freeform 46" id="46" descr="/home/claude/icons/sitemap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714500" y="6652260"/>
            <a:ext cx="4800600" cy="480060"/>
            <a:chOff x="0" y="0"/>
            <a:chExt cx="6400800" cy="640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400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Scene-level splitting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7406640"/>
            <a:ext cx="5349240" cy="1783080"/>
            <a:chOff x="0" y="0"/>
            <a:chExt cx="7132320" cy="2377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323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713232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B9C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Prevents spatial leakage — adjacent pixels never split across train/validation, so the model can’t memorize coordinates.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446520" y="6652260"/>
            <a:ext cx="685800" cy="685800"/>
            <a:chOff x="0" y="0"/>
            <a:chExt cx="91440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6535674" y="6741414"/>
            <a:ext cx="507492" cy="507492"/>
            <a:chOff x="0" y="0"/>
            <a:chExt cx="676656" cy="676656"/>
          </a:xfrm>
        </p:grpSpPr>
        <p:sp>
          <p:nvSpPr>
            <p:cNvPr name="Freeform 56" id="56" descr="/home/claude/icons/chart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338060" y="6652260"/>
            <a:ext cx="4800600" cy="480060"/>
            <a:chOff x="0" y="0"/>
            <a:chExt cx="6400800" cy="640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400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Dice + Cross-Entropy loss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446520" y="7406640"/>
            <a:ext cx="5349240" cy="1783080"/>
            <a:chOff x="0" y="0"/>
            <a:chExt cx="7132320" cy="23774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1323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7132320" cy="2453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B9C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Keeps rare classes (rivers, urban) from being drowned out by dominant classes (forest).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070080" y="6652260"/>
            <a:ext cx="685800" cy="685800"/>
            <a:chOff x="0" y="0"/>
            <a:chExt cx="914400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159234" y="6741414"/>
            <a:ext cx="507492" cy="507492"/>
            <a:chOff x="0" y="0"/>
            <a:chExt cx="676656" cy="676656"/>
          </a:xfrm>
        </p:grpSpPr>
        <p:sp>
          <p:nvSpPr>
            <p:cNvPr name="Freeform 66" id="66" descr="/home/claude/icons/bolt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961620" y="6652260"/>
            <a:ext cx="4800600" cy="480060"/>
            <a:chOff x="0" y="0"/>
            <a:chExt cx="6400800" cy="640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6400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Mixed-precision (AMP)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070080" y="7406640"/>
            <a:ext cx="5349240" cy="1783080"/>
            <a:chOff x="0" y="0"/>
            <a:chExt cx="7132320" cy="23774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1323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85725"/>
              <a:ext cx="7132320" cy="2463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5"/>
                </a:lnSpc>
              </a:pPr>
              <a:r>
                <a:rPr lang="en-US" sz="1899">
                  <a:solidFill>
                    <a:srgbClr val="B9C6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Maintains numerical stability while training faster on 16-channel tensors.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B7C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4363" y="1028700"/>
            <a:ext cx="16711982" cy="1002719"/>
            <a:chOff x="0" y="0"/>
            <a:chExt cx="182880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82880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726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Technical Deep-Dive: Key Questions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5816" y="2530316"/>
            <a:ext cx="8175307" cy="2894648"/>
            <a:chOff x="0" y="0"/>
            <a:chExt cx="10900410" cy="3859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10753344" y="0"/>
                  </a:lnTo>
                  <a:cubicBezTo>
                    <a:pt x="10834497" y="0"/>
                    <a:pt x="10900410" y="65786"/>
                    <a:pt x="10900410" y="147066"/>
                  </a:cubicBezTo>
                  <a:lnTo>
                    <a:pt x="10900410" y="3712464"/>
                  </a:lnTo>
                  <a:cubicBezTo>
                    <a:pt x="10900410" y="3793617"/>
                    <a:pt x="10834624" y="3859530"/>
                    <a:pt x="10753344" y="3859530"/>
                  </a:cubicBezTo>
                  <a:lnTo>
                    <a:pt x="147066" y="3859530"/>
                  </a:lnTo>
                  <a:cubicBezTo>
                    <a:pt x="65786" y="3859530"/>
                    <a:pt x="0" y="3793744"/>
                    <a:pt x="0" y="37124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65860" y="2880360"/>
            <a:ext cx="685800" cy="685800"/>
            <a:chOff x="0" y="0"/>
            <a:chExt cx="914400" cy="914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55014" y="2969514"/>
            <a:ext cx="507492" cy="507492"/>
            <a:chOff x="0" y="0"/>
            <a:chExt cx="676656" cy="676656"/>
          </a:xfrm>
        </p:grpSpPr>
        <p:sp>
          <p:nvSpPr>
            <p:cNvPr name="Freeform 10" id="10" descr="/home/claude/icons/question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71682" y="2799207"/>
            <a:ext cx="9562223" cy="119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7"/>
              </a:lnSpc>
            </a:pPr>
            <a:r>
              <a:rPr lang="en-US" sz="2831" b="true">
                <a:solidFill>
                  <a:srgbClr val="1726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16 channels instead of RGB?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7300" y="3810000"/>
            <a:ext cx="7292340" cy="110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RGB cannot separate materials that share a visible color, e.g. artificial turf vs. forest. NIR/SWIR bands reveal chlorophyll reflection and water absorption RGB can’t see.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51156" y="2530316"/>
            <a:ext cx="8175307" cy="2894648"/>
            <a:chOff x="0" y="0"/>
            <a:chExt cx="10900410" cy="38595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10753344" y="0"/>
                  </a:lnTo>
                  <a:cubicBezTo>
                    <a:pt x="10834497" y="0"/>
                    <a:pt x="10900410" y="65786"/>
                    <a:pt x="10900410" y="147066"/>
                  </a:cubicBezTo>
                  <a:lnTo>
                    <a:pt x="10900410" y="3712464"/>
                  </a:lnTo>
                  <a:cubicBezTo>
                    <a:pt x="10900410" y="3793617"/>
                    <a:pt x="10834624" y="3859530"/>
                    <a:pt x="10753344" y="3859530"/>
                  </a:cubicBezTo>
                  <a:lnTo>
                    <a:pt x="147066" y="3859530"/>
                  </a:lnTo>
                  <a:cubicBezTo>
                    <a:pt x="65786" y="3859530"/>
                    <a:pt x="0" y="3793744"/>
                    <a:pt x="0" y="37124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601200" y="2880360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690354" y="2969514"/>
            <a:ext cx="507492" cy="507492"/>
            <a:chOff x="0" y="0"/>
            <a:chExt cx="676656" cy="676656"/>
          </a:xfrm>
        </p:grpSpPr>
        <p:sp>
          <p:nvSpPr>
            <p:cNvPr name="Freeform 18" id="18" descr="/home/claude/icons/question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648950" y="2789682"/>
            <a:ext cx="9298209" cy="116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4"/>
              </a:lnSpc>
            </a:pPr>
            <a:r>
              <a:rPr lang="en-US" sz="2753" b="true">
                <a:solidFill>
                  <a:srgbClr val="1726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is spatial leakage, and how was it avoided?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92640" y="3810000"/>
            <a:ext cx="7292340" cy="110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Randomly shuffling adjacent pixels into train/validation lets a model memorize coordinates instead of features. Scene-level splitting keeps whole scenes on one side of the split.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15816" y="5794724"/>
            <a:ext cx="8175307" cy="2894648"/>
            <a:chOff x="0" y="0"/>
            <a:chExt cx="10900410" cy="38595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10753344" y="0"/>
                  </a:lnTo>
                  <a:cubicBezTo>
                    <a:pt x="10834497" y="0"/>
                    <a:pt x="10900410" y="65786"/>
                    <a:pt x="10900410" y="147066"/>
                  </a:cubicBezTo>
                  <a:lnTo>
                    <a:pt x="10900410" y="3712464"/>
                  </a:lnTo>
                  <a:cubicBezTo>
                    <a:pt x="10900410" y="3793617"/>
                    <a:pt x="10834624" y="3859530"/>
                    <a:pt x="10753344" y="3859530"/>
                  </a:cubicBezTo>
                  <a:lnTo>
                    <a:pt x="147066" y="3859530"/>
                  </a:lnTo>
                  <a:cubicBezTo>
                    <a:pt x="65786" y="3859530"/>
                    <a:pt x="0" y="3793744"/>
                    <a:pt x="0" y="37124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65860" y="6144768"/>
            <a:ext cx="685800" cy="685800"/>
            <a:chOff x="0" y="0"/>
            <a:chExt cx="9144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55014" y="6233922"/>
            <a:ext cx="507492" cy="507492"/>
            <a:chOff x="0" y="0"/>
            <a:chExt cx="676656" cy="676656"/>
          </a:xfrm>
        </p:grpSpPr>
        <p:sp>
          <p:nvSpPr>
            <p:cNvPr name="Freeform 26" id="26" descr="/home/claude/icons/question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2064362" y="6153573"/>
            <a:ext cx="9376864" cy="1178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5"/>
              </a:lnSpc>
            </a:pPr>
            <a:r>
              <a:rPr lang="en-US" sz="2776" b="true">
                <a:solidFill>
                  <a:srgbClr val="1726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 does C++ accelerate the pipeline?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7300" y="7055358"/>
            <a:ext cx="7292340" cy="1174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10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Zero-overhead sliding-window tiling, operator-overloaded band math, and RAII memory safety together give a 4.8× speedup over naive Python preprocessing.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51156" y="5794724"/>
            <a:ext cx="8175307" cy="2894648"/>
            <a:chOff x="0" y="0"/>
            <a:chExt cx="10900410" cy="38595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00410" cy="3859530"/>
            </a:xfrm>
            <a:custGeom>
              <a:avLst/>
              <a:gdLst/>
              <a:ahLst/>
              <a:cxnLst/>
              <a:rect r="r" b="b" t="t" l="l"/>
              <a:pathLst>
                <a:path h="3859530" w="1090041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10753344" y="0"/>
                  </a:lnTo>
                  <a:cubicBezTo>
                    <a:pt x="10834497" y="0"/>
                    <a:pt x="10900410" y="65786"/>
                    <a:pt x="10900410" y="147066"/>
                  </a:cubicBezTo>
                  <a:lnTo>
                    <a:pt x="10900410" y="3712464"/>
                  </a:lnTo>
                  <a:cubicBezTo>
                    <a:pt x="10900410" y="3793617"/>
                    <a:pt x="10834624" y="3859530"/>
                    <a:pt x="10753344" y="3859530"/>
                  </a:cubicBezTo>
                  <a:lnTo>
                    <a:pt x="147066" y="3859530"/>
                  </a:lnTo>
                  <a:cubicBezTo>
                    <a:pt x="65786" y="3859530"/>
                    <a:pt x="0" y="3793744"/>
                    <a:pt x="0" y="371246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1E6E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601200" y="6144768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90354" y="6233922"/>
            <a:ext cx="507492" cy="507492"/>
            <a:chOff x="0" y="0"/>
            <a:chExt cx="676656" cy="676656"/>
          </a:xfrm>
        </p:grpSpPr>
        <p:sp>
          <p:nvSpPr>
            <p:cNvPr name="Freeform 34" id="34" descr="/home/claude/icons/question.png"/>
            <p:cNvSpPr/>
            <p:nvPr/>
          </p:nvSpPr>
          <p:spPr>
            <a:xfrm flipH="false" flipV="false" rot="0">
              <a:off x="0" y="0"/>
              <a:ext cx="676656" cy="676656"/>
            </a:xfrm>
            <a:custGeom>
              <a:avLst/>
              <a:gdLst/>
              <a:ahLst/>
              <a:cxnLst/>
              <a:rect r="r" b="b" t="t" l="l"/>
              <a:pathLst>
                <a:path h="676656" w="676656">
                  <a:moveTo>
                    <a:pt x="0" y="0"/>
                  </a:moveTo>
                  <a:lnTo>
                    <a:pt x="676656" y="0"/>
                  </a:lnTo>
                  <a:lnTo>
                    <a:pt x="676656" y="676656"/>
                  </a:lnTo>
                  <a:lnTo>
                    <a:pt x="0" y="676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652760" y="6139339"/>
            <a:ext cx="9489575" cy="118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9"/>
              </a:lnSpc>
            </a:pPr>
            <a:r>
              <a:rPr lang="en-US" sz="2809" b="true">
                <a:solidFill>
                  <a:srgbClr val="1726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Dice + Cross-Entropy, not CE alone?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92640" y="7074408"/>
            <a:ext cx="7292340" cy="110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00">
                <a:solidFill>
                  <a:srgbClr val="5B6B70"/>
                </a:solidFill>
                <a:latin typeface="Calibri (MS)"/>
                <a:ea typeface="Calibri (MS)"/>
                <a:cs typeface="Calibri (MS)"/>
                <a:sym typeface="Calibri (MS)"/>
              </a:rPr>
              <a:t>Cross-Entropy alone is biased toward majority classes like forest. Dice Loss directly optimizes IoU, keeping rare classes such as rivers and urban areas accurately mapped.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3716000" cy="822960"/>
            <a:chOff x="0" y="0"/>
            <a:chExt cx="1828800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82880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 &amp; Future Work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057400"/>
            <a:ext cx="7955280" cy="548640"/>
            <a:chOff x="0" y="0"/>
            <a:chExt cx="1060704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6070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GeoSeg demonstrates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743200"/>
            <a:ext cx="548640" cy="548640"/>
            <a:chOff x="0" y="0"/>
            <a:chExt cx="7315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4283" y="2814523"/>
            <a:ext cx="405994" cy="405994"/>
            <a:chOff x="0" y="0"/>
            <a:chExt cx="541325" cy="541325"/>
          </a:xfrm>
        </p:grpSpPr>
        <p:sp>
          <p:nvSpPr>
            <p:cNvPr name="Freeform 11" id="11" descr="/home/claude/icons/check.png"/>
            <p:cNvSpPr/>
            <p:nvPr/>
          </p:nvSpPr>
          <p:spPr>
            <a:xfrm flipH="false" flipV="false" rot="0">
              <a:off x="0" y="0"/>
              <a:ext cx="541274" cy="541274"/>
            </a:xfrm>
            <a:custGeom>
              <a:avLst/>
              <a:gdLst/>
              <a:ahLst/>
              <a:cxnLst/>
              <a:rect r="r" b="b" t="t" l="l"/>
              <a:pathLst>
                <a:path h="541274" w="541274">
                  <a:moveTo>
                    <a:pt x="0" y="0"/>
                  </a:moveTo>
                  <a:lnTo>
                    <a:pt x="541274" y="0"/>
                  </a:lnTo>
                  <a:lnTo>
                    <a:pt x="541274" y="541274"/>
                  </a:lnTo>
                  <a:lnTo>
                    <a:pt x="0" y="541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77340" y="2743200"/>
            <a:ext cx="7269480" cy="822960"/>
            <a:chOff x="0" y="0"/>
            <a:chExt cx="969264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92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969264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D6E0E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16-channel multispectral segmentation model reaching 0.9695 validation mIoU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2960" y="3771900"/>
            <a:ext cx="548640" cy="548640"/>
            <a:chOff x="0" y="0"/>
            <a:chExt cx="7315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94283" y="3843223"/>
            <a:ext cx="405994" cy="405994"/>
            <a:chOff x="0" y="0"/>
            <a:chExt cx="541325" cy="541325"/>
          </a:xfrm>
        </p:grpSpPr>
        <p:sp>
          <p:nvSpPr>
            <p:cNvPr name="Freeform 18" id="18" descr="/home/claude/icons/check.png"/>
            <p:cNvSpPr/>
            <p:nvPr/>
          </p:nvSpPr>
          <p:spPr>
            <a:xfrm flipH="false" flipV="false" rot="0">
              <a:off x="0" y="0"/>
              <a:ext cx="541274" cy="541274"/>
            </a:xfrm>
            <a:custGeom>
              <a:avLst/>
              <a:gdLst/>
              <a:ahLst/>
              <a:cxnLst/>
              <a:rect r="r" b="b" t="t" l="l"/>
              <a:pathLst>
                <a:path h="541274" w="541274">
                  <a:moveTo>
                    <a:pt x="0" y="0"/>
                  </a:moveTo>
                  <a:lnTo>
                    <a:pt x="541274" y="0"/>
                  </a:lnTo>
                  <a:lnTo>
                    <a:pt x="541274" y="541274"/>
                  </a:lnTo>
                  <a:lnTo>
                    <a:pt x="0" y="541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9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77340" y="3771900"/>
            <a:ext cx="7269480" cy="822960"/>
            <a:chOff x="0" y="0"/>
            <a:chExt cx="969264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92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969264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D6E0E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native C++17 engine delivering a 4.8× preprocessing speedup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22960" y="4800600"/>
            <a:ext cx="548640" cy="548640"/>
            <a:chOff x="0" y="0"/>
            <a:chExt cx="73152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F5E4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94283" y="4871923"/>
            <a:ext cx="405994" cy="405994"/>
            <a:chOff x="0" y="0"/>
            <a:chExt cx="541325" cy="541325"/>
          </a:xfrm>
        </p:grpSpPr>
        <p:sp>
          <p:nvSpPr>
            <p:cNvPr name="Freeform 25" id="25" descr="/home/claude/icons/check.png"/>
            <p:cNvSpPr/>
            <p:nvPr/>
          </p:nvSpPr>
          <p:spPr>
            <a:xfrm flipH="false" flipV="false" rot="0">
              <a:off x="0" y="0"/>
              <a:ext cx="541274" cy="541274"/>
            </a:xfrm>
            <a:custGeom>
              <a:avLst/>
              <a:gdLst/>
              <a:ahLst/>
              <a:cxnLst/>
              <a:rect r="r" b="b" t="t" l="l"/>
              <a:pathLst>
                <a:path h="541274" w="541274">
                  <a:moveTo>
                    <a:pt x="0" y="0"/>
                  </a:moveTo>
                  <a:lnTo>
                    <a:pt x="541274" y="0"/>
                  </a:lnTo>
                  <a:lnTo>
                    <a:pt x="541274" y="541274"/>
                  </a:lnTo>
                  <a:lnTo>
                    <a:pt x="0" y="541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77340" y="4800600"/>
            <a:ext cx="7269480" cy="822960"/>
            <a:chOff x="0" y="0"/>
            <a:chExt cx="969264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92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969264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D6E0E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full-stack platform — model, API, and GIS dashboard — usable on any region on Earth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64040" y="2057400"/>
            <a:ext cx="7955280" cy="548640"/>
            <a:chOff x="0" y="0"/>
            <a:chExt cx="1060704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6070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Where it goes next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64040" y="2743200"/>
            <a:ext cx="548640" cy="548640"/>
            <a:chOff x="0" y="0"/>
            <a:chExt cx="7315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35363" y="2814523"/>
            <a:ext cx="405994" cy="405994"/>
            <a:chOff x="0" y="0"/>
            <a:chExt cx="541325" cy="541325"/>
          </a:xfrm>
        </p:grpSpPr>
        <p:sp>
          <p:nvSpPr>
            <p:cNvPr name="Freeform 35" id="35" descr="/home/claude/icons/arrowRight.png"/>
            <p:cNvSpPr/>
            <p:nvPr/>
          </p:nvSpPr>
          <p:spPr>
            <a:xfrm flipH="false" flipV="false" rot="0">
              <a:off x="0" y="0"/>
              <a:ext cx="541274" cy="541274"/>
            </a:xfrm>
            <a:custGeom>
              <a:avLst/>
              <a:gdLst/>
              <a:ahLst/>
              <a:cxnLst/>
              <a:rect r="r" b="b" t="t" l="l"/>
              <a:pathLst>
                <a:path h="541274" w="541274">
                  <a:moveTo>
                    <a:pt x="0" y="0"/>
                  </a:moveTo>
                  <a:lnTo>
                    <a:pt x="541274" y="0"/>
                  </a:lnTo>
                  <a:lnTo>
                    <a:pt x="541274" y="541274"/>
                  </a:lnTo>
                  <a:lnTo>
                    <a:pt x="0" y="541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218420" y="2743200"/>
            <a:ext cx="7269480" cy="822960"/>
            <a:chOff x="0" y="0"/>
            <a:chExt cx="969264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692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969264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D6E0E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Temporal analysis — track land-cover change across multiple satellite passes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464040" y="3771900"/>
            <a:ext cx="548640" cy="548640"/>
            <a:chOff x="0" y="0"/>
            <a:chExt cx="731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535363" y="3843223"/>
            <a:ext cx="405994" cy="405994"/>
            <a:chOff x="0" y="0"/>
            <a:chExt cx="541325" cy="541325"/>
          </a:xfrm>
        </p:grpSpPr>
        <p:sp>
          <p:nvSpPr>
            <p:cNvPr name="Freeform 42" id="42" descr="/home/claude/icons/arrowRight.png"/>
            <p:cNvSpPr/>
            <p:nvPr/>
          </p:nvSpPr>
          <p:spPr>
            <a:xfrm flipH="false" flipV="false" rot="0">
              <a:off x="0" y="0"/>
              <a:ext cx="541274" cy="541274"/>
            </a:xfrm>
            <a:custGeom>
              <a:avLst/>
              <a:gdLst/>
              <a:ahLst/>
              <a:cxnLst/>
              <a:rect r="r" b="b" t="t" l="l"/>
              <a:pathLst>
                <a:path h="541274" w="541274">
                  <a:moveTo>
                    <a:pt x="0" y="0"/>
                  </a:moveTo>
                  <a:lnTo>
                    <a:pt x="541274" y="0"/>
                  </a:lnTo>
                  <a:lnTo>
                    <a:pt x="541274" y="541274"/>
                  </a:lnTo>
                  <a:lnTo>
                    <a:pt x="0" y="541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218420" y="3771900"/>
            <a:ext cx="7269480" cy="822960"/>
            <a:chOff x="0" y="0"/>
            <a:chExt cx="969264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692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969264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D6E0E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Expand the training set beyond SEN12MS for broader geographic generalization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64040" y="4800600"/>
            <a:ext cx="548640" cy="548640"/>
            <a:chOff x="0" y="0"/>
            <a:chExt cx="73152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F3358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535363" y="4871923"/>
            <a:ext cx="405994" cy="405994"/>
            <a:chOff x="0" y="0"/>
            <a:chExt cx="541325" cy="541325"/>
          </a:xfrm>
        </p:grpSpPr>
        <p:sp>
          <p:nvSpPr>
            <p:cNvPr name="Freeform 49" id="49" descr="/home/claude/icons/arrowRight.png"/>
            <p:cNvSpPr/>
            <p:nvPr/>
          </p:nvSpPr>
          <p:spPr>
            <a:xfrm flipH="false" flipV="false" rot="0">
              <a:off x="0" y="0"/>
              <a:ext cx="541274" cy="541274"/>
            </a:xfrm>
            <a:custGeom>
              <a:avLst/>
              <a:gdLst/>
              <a:ahLst/>
              <a:cxnLst/>
              <a:rect r="r" b="b" t="t" l="l"/>
              <a:pathLst>
                <a:path h="541274" w="541274">
                  <a:moveTo>
                    <a:pt x="0" y="0"/>
                  </a:moveTo>
                  <a:lnTo>
                    <a:pt x="541274" y="0"/>
                  </a:lnTo>
                  <a:lnTo>
                    <a:pt x="541274" y="541274"/>
                  </a:lnTo>
                  <a:lnTo>
                    <a:pt x="0" y="541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9" b="-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218420" y="4800600"/>
            <a:ext cx="7269480" cy="822960"/>
            <a:chOff x="0" y="0"/>
            <a:chExt cx="969264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6926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969264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2"/>
                </a:lnSpc>
              </a:pPr>
              <a:r>
                <a:rPr lang="en-US" sz="1800">
                  <a:solidFill>
                    <a:srgbClr val="D6E0E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Deploy the C++ engine as a distributed service for continent-scale inference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3960">
            <a:off x="813425" y="6236018"/>
            <a:ext cx="16615420" cy="0"/>
          </a:xfrm>
          <a:prstGeom prst="line">
            <a:avLst/>
          </a:prstGeom>
          <a:ln cap="rnd" w="9525">
            <a:solidFill>
              <a:srgbClr val="1E3A5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813431" y="7099828"/>
            <a:ext cx="20500766" cy="1793817"/>
            <a:chOff x="0" y="0"/>
            <a:chExt cx="14630400" cy="12801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630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46304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915943" y="9738360"/>
            <a:ext cx="685800" cy="411480"/>
            <a:chOff x="0" y="0"/>
            <a:chExt cx="9144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A9B7C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DAHTI8x-_8s</dc:identifier>
  <dcterms:modified xsi:type="dcterms:W3CDTF">2011-08-01T06:04:30Z</dcterms:modified>
  <cp:revision>1</cp:revision>
  <dc:title>GeoSeg_Faculty_Review.pptx</dc:title>
</cp:coreProperties>
</file>